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Hỏi cụ thể: "Khác ở điểm nào? Output chính xác hơn? Đúng phong cách hơn? Ít phải sửa hơn?" 5 phút.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Nếu nhiều A/B -&gt; dành thêm thời gian ở Block B cho viết. Nếu đa số C/D -&gt; tập trung vào nâng cao.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"Buổi 1 bạn học viết prompt. Buổi 4 bạn học thiết kế MÔI TRƯỜNG. Đây là bước nhảy lớn nhất."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Chuẩn bị 2 thư mục: 1 có CLAUDE.md, 1 không. Demo cùng prompt, so sánh kết quả.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Phép so sánh: "Smart Zone = kiến thức lâu dài (tên bạn, nghề nghiệp). Working Zone = bộ nhớ làm việc (số điện thoại vừa nghe)."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Liên kết với Buổi 3: "Nhớ contract-agent chạy như thế nào không? Đó chính là RPI."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Nhóm câu trả lời: quy tắc về phong cách, quy tắc về nội dung, quy tắc về giới hạn. "Tất cả những quy tắc này đều đi vào CLAUDE.md."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Mở CLAUDE.md thật trên màn hình, phóng to font. Hỏi lớp: "Phần nào bạn muốn áp dụng cho CLAUDE.md của mình?" 8 phút.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 nhanh: kết nối filesystem MCP, yêu cầu Claude Code đọc 1 file .md từ máy. "Thấy không? Không cần copy-paste nữa." 5 phút.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Đi "vòng quanh" qua chat: "Bạn đang viết CLAUDE.md cho tác vụ gì? Gặp vướng mắc gì?"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Hỏi ai chọn D: "Bạn viết CLAUDE.md như thế nào mà kết quả khác hoàn toàn?" -&gt; Chia sẻ bí quyết cho lớp.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Có step-by-step guide chi tiết trong handout. TA hỗ trợ qua chat. Nếu ai không cài được -&gt; xem demo facilitator.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Hỗ trợ nhóm C. Lỗi phổ biến: path sai, quyền file, cần restart Claude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Đây là bước nâng cao quan trọng. Ví dụ output là kỹ thuật mạnh nhất.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0152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Buổi 4: Context Engineering + Công cụ MCP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D5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Warm-up -- CLAUDE.md có hiệu quả không?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475488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Bef>
                <a:spcPts val="800"/>
              </a:spcBef>
              <a:defRPr sz="1600" b="1">
                <a:solidFill>
                  <a:srgbClr val="2D5F9A"/>
                </a:solidFill>
              </a:defRPr>
            </a:pPr>
            <a:r>
              <a:t>"AI có hoạt động khác khi có CLAUDE.md không?"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-&gt; 3 người chia sẻ nhanh (1 phút mỗi người)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D5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Poll #1 -- Trạng thái CLAUDE.md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475488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Bef>
                <a:spcPts val="800"/>
              </a:spcBef>
              <a:defRPr sz="1600" b="1">
                <a:solidFill>
                  <a:srgbClr val="2D5F9A"/>
                </a:solidFill>
              </a:defRPr>
            </a:pPr>
            <a:r>
              <a:t>ZOOM POLL: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"CLAUDE.md của bạn hiện có bao nhiêu phần?"</a:t>
            </a:r>
          </a:p>
          <a:p>
            <a:pPr>
              <a:spcBef>
                <a:spcPts val="300"/>
              </a:spcBef>
              <a:defRPr sz="1600">
                <a:solidFill>
                  <a:srgbClr val="333333"/>
                </a:solidFill>
              </a:defRPr>
            </a:pPr>
            <a:r>
              <a:t>•  A. Chưa có</a:t>
            </a:r>
          </a:p>
          <a:p>
            <a:pPr>
              <a:spcBef>
                <a:spcPts val="300"/>
              </a:spcBef>
              <a:defRPr sz="1600">
                <a:solidFill>
                  <a:srgbClr val="333333"/>
                </a:solidFill>
              </a:defRPr>
            </a:pPr>
            <a:r>
              <a:t>•  B. 1--2 phần</a:t>
            </a:r>
          </a:p>
          <a:p>
            <a:pPr>
              <a:spcBef>
                <a:spcPts val="300"/>
              </a:spcBef>
              <a:defRPr sz="1600">
                <a:solidFill>
                  <a:srgbClr val="333333"/>
                </a:solidFill>
              </a:defRPr>
            </a:pPr>
            <a:r>
              <a:t>•  C. 3--4 phần</a:t>
            </a:r>
          </a:p>
          <a:p>
            <a:pPr>
              <a:spcBef>
                <a:spcPts val="300"/>
              </a:spcBef>
              <a:defRPr sz="1600">
                <a:solidFill>
                  <a:srgbClr val="333333"/>
                </a:solidFill>
              </a:defRPr>
            </a:pPr>
            <a:r>
              <a:t>•  D. Đầy đủ 4+ phần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D5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Context Engineering là gì?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475488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Bef>
                <a:spcPts val="800"/>
              </a:spcBef>
              <a:defRPr sz="1600" b="1">
                <a:solidFill>
                  <a:srgbClr val="2D5F9A"/>
                </a:solidFill>
              </a:defRPr>
            </a:pPr>
            <a:r>
              <a:t>Phép so sánh: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Cách 1: Ra lệnh từng câu  |  Cách 2: Đưa sổ tay hướng dẫn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"Soạn email." "Dùng giọng chuyên nghiệp." "Thêm số liệu." "Sửa lại ngắn hơn."  |  Sổ tay: vai trò, phong cách, quy tắc -&gt; AI tự biết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= Chat (mỗi lần nhắc lại)  |  = CLAUDE.md (viết 1 lần, dùng mãi)</a:t>
            </a:r>
          </a:p>
          <a:p>
            <a:pPr>
              <a:defRPr sz="1600" i="1">
                <a:solidFill>
                  <a:srgbClr val="2D5F9A"/>
                </a:solidFill>
              </a:defRPr>
            </a:pPr>
            <a:r>
              <a:t>"Context Engineering = thiết kế môi trường làm việc cho AI, không chỉ viết prompt."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D5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Demo -- Có vs. Không có CLAUDE.md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475488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Bef>
                <a:spcPts val="800"/>
              </a:spcBef>
              <a:defRPr sz="1600" b="1">
                <a:solidFill>
                  <a:srgbClr val="2D5F9A"/>
                </a:solidFill>
              </a:defRPr>
            </a:pPr>
            <a:r>
              <a:t>Demo trực tiếp trên Claude Code:</a:t>
            </a:r>
          </a:p>
          <a:p>
            <a:pPr>
              <a:spcBef>
                <a:spcPts val="800"/>
              </a:spcBef>
              <a:defRPr sz="1600" b="1">
                <a:solidFill>
                  <a:srgbClr val="2D5F9A"/>
                </a:solidFill>
              </a:defRPr>
            </a:pPr>
            <a:r>
              <a:t>Không có CLAUDE.md:</a:t>
            </a:r>
          </a:p>
          <a:p>
            <a:pPr>
              <a:defRPr sz="1400">
                <a:solidFill>
                  <a:srgbClr val="333333"/>
                </a:solidFill>
                <a:latin typeface="Consolas"/>
              </a:defRPr>
            </a:pPr>
            <a:r>
              <a:t>&gt; claude "Soạn báo cáo tuần cho dự án X"</a:t>
            </a:r>
          </a:p>
          <a:p>
            <a:pPr>
              <a:defRPr sz="1400">
                <a:solidFill>
                  <a:srgbClr val="333333"/>
                </a:solidFill>
                <a:latin typeface="Consolas"/>
              </a:defRPr>
            </a:pPr>
            <a:r>
              <a:t>-&gt; Kết quả: chung chung, thiếu ngữ cảnh, sai phong cách</a:t>
            </a:r>
          </a:p>
          <a:p>
            <a:pPr>
              <a:spcBef>
                <a:spcPts val="800"/>
              </a:spcBef>
              <a:defRPr sz="1600" b="1">
                <a:solidFill>
                  <a:srgbClr val="2D5F9A"/>
                </a:solidFill>
              </a:defRPr>
            </a:pPr>
            <a:r>
              <a:t>Có CLAUDE.md:</a:t>
            </a:r>
          </a:p>
          <a:p>
            <a:pPr>
              <a:defRPr sz="1400">
                <a:solidFill>
                  <a:srgbClr val="333333"/>
                </a:solidFill>
                <a:latin typeface="Consolas"/>
              </a:defRPr>
            </a:pPr>
            <a:r>
              <a:t>&gt; claude "Soạn báo cáo tuần cho dự án X"</a:t>
            </a:r>
          </a:p>
          <a:p>
            <a:pPr>
              <a:defRPr sz="1400">
                <a:solidFill>
                  <a:srgbClr val="333333"/>
                </a:solidFill>
                <a:latin typeface="Consolas"/>
              </a:defRPr>
            </a:pPr>
            <a:r>
              <a:t>-&gt; Kết quả: đúng phong cách, đúng định dạng, dùng được ngay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D5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Smart Zone -- AI nhớ gì?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475488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Bef>
                <a:spcPts val="800"/>
              </a:spcBef>
              <a:defRPr sz="1600" b="1">
                <a:solidFill>
                  <a:srgbClr val="2D5F9A"/>
                </a:solidFill>
              </a:defRPr>
            </a:pPr>
            <a:r>
              <a:t>Bộ nhớ AI có 2 vùng:</a:t>
            </a:r>
          </a:p>
          <a:p>
            <a:pPr>
              <a:defRPr sz="1400">
                <a:solidFill>
                  <a:srgbClr val="333333"/>
                </a:solidFill>
                <a:latin typeface="Consolas"/>
              </a:defRPr>
            </a:pPr>
            <a:r>
              <a:t>+----------------------------------+</a:t>
            </a:r>
          </a:p>
          <a:p>
            <a:pPr>
              <a:defRPr sz="1400">
                <a:solidFill>
                  <a:srgbClr val="333333"/>
                </a:solidFill>
                <a:latin typeface="Consolas"/>
              </a:defRPr>
            </a:pPr>
            <a:r>
              <a:t>| SMART ZONE (~40%)                |</a:t>
            </a:r>
          </a:p>
          <a:p>
            <a:pPr>
              <a:defRPr sz="1400">
                <a:solidFill>
                  <a:srgbClr val="333333"/>
                </a:solidFill>
                <a:latin typeface="Consolas"/>
              </a:defRPr>
            </a:pPr>
            <a:r>
              <a:t>| CLAUDE.md, system instructions   |</a:t>
            </a:r>
          </a:p>
          <a:p>
            <a:pPr>
              <a:defRPr sz="1400">
                <a:solidFill>
                  <a:srgbClr val="333333"/>
                </a:solidFill>
                <a:latin typeface="Consolas"/>
              </a:defRPr>
            </a:pPr>
            <a:r>
              <a:t>| -&gt; Luôn có hiệu lực             |</a:t>
            </a:r>
          </a:p>
          <a:p>
            <a:pPr>
              <a:defRPr sz="1400">
                <a:solidFill>
                  <a:srgbClr val="333333"/>
                </a:solidFill>
                <a:latin typeface="Consolas"/>
              </a:defRPr>
            </a:pPr>
            <a:r>
              <a:t>| -&gt; Recall cao                    |</a:t>
            </a:r>
          </a:p>
          <a:p>
            <a:pPr>
              <a:defRPr sz="1400">
                <a:solidFill>
                  <a:srgbClr val="333333"/>
                </a:solidFill>
                <a:latin typeface="Consolas"/>
              </a:defRPr>
            </a:pPr>
            <a:r>
              <a:t>+----------------------------------+</a:t>
            </a:r>
          </a:p>
          <a:p>
            <a:pPr>
              <a:defRPr sz="1400">
                <a:solidFill>
                  <a:srgbClr val="333333"/>
                </a:solidFill>
                <a:latin typeface="Consolas"/>
              </a:defRPr>
            </a:pPr>
            <a:r>
              <a:t>| WORKING ZONE (~60%)             |</a:t>
            </a:r>
          </a:p>
          <a:p>
            <a:pPr>
              <a:defRPr sz="1400">
                <a:solidFill>
                  <a:srgbClr val="333333"/>
                </a:solidFill>
                <a:latin typeface="Consolas"/>
              </a:defRPr>
            </a:pPr>
            <a:r>
              <a:t>| Cuộc trò chuyện, tool output    |</a:t>
            </a:r>
          </a:p>
          <a:p>
            <a:pPr>
              <a:defRPr sz="1400">
                <a:solidFill>
                  <a:srgbClr val="333333"/>
                </a:solidFill>
                <a:latin typeface="Consolas"/>
              </a:defRPr>
            </a:pPr>
            <a:r>
              <a:t>| -&gt; Có thể bị nén/mất           |</a:t>
            </a:r>
          </a:p>
          <a:p>
            <a:pPr>
              <a:defRPr sz="1400">
                <a:solidFill>
                  <a:srgbClr val="333333"/>
                </a:solidFill>
                <a:latin typeface="Consolas"/>
              </a:defRPr>
            </a:pPr>
            <a:r>
              <a:t>| -&gt; Dùng xong quên               |</a:t>
            </a:r>
          </a:p>
          <a:p>
            <a:pPr>
              <a:defRPr sz="1400">
                <a:solidFill>
                  <a:srgbClr val="333333"/>
                </a:solidFill>
                <a:latin typeface="Consolas"/>
              </a:defRPr>
            </a:pPr>
            <a:r>
              <a:t>+----------------------------------+</a:t>
            </a:r>
          </a:p>
          <a:p>
            <a:pPr>
              <a:defRPr sz="1600" i="1">
                <a:solidFill>
                  <a:srgbClr val="2D5F9A"/>
                </a:solidFill>
              </a:defRPr>
            </a:pPr>
            <a:r>
              <a:t>"CLAUDE.md nằm trong Smart Zone -- AI giữ nó trong vùng nhớ quan trọng nhất, luôn có hiệu lực."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D5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RPI Pattern -- AI đọc -&gt; lập kế hoạch -&gt; thực thi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475488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Bef>
                <a:spcPts val="800"/>
              </a:spcBef>
              <a:defRPr sz="1600" b="1">
                <a:solidFill>
                  <a:srgbClr val="2D5F9A"/>
                </a:solidFill>
              </a:defRPr>
            </a:pPr>
            <a:r>
              <a:t>Read-Plan-Implement:</a:t>
            </a:r>
          </a:p>
          <a:p>
            <a:pPr>
              <a:spcBef>
                <a:spcPts val="300"/>
              </a:spcBef>
              <a:defRPr sz="1600">
                <a:solidFill>
                  <a:srgbClr val="333333"/>
                </a:solidFill>
              </a:defRPr>
            </a:pPr>
            <a:r>
              <a:t>Read (Đọc): AI đọc CLAUDE.md + file input</a:t>
            </a:r>
          </a:p>
          <a:p>
            <a:pPr>
              <a:spcBef>
                <a:spcPts val="300"/>
              </a:spcBef>
              <a:defRPr sz="1600">
                <a:solidFill>
                  <a:srgbClr val="333333"/>
                </a:solidFill>
              </a:defRPr>
            </a:pPr>
            <a:r>
              <a:t>Plan (Lập kế hoạch): AI tự xác định các bước cần làm</a:t>
            </a:r>
          </a:p>
          <a:p>
            <a:pPr>
              <a:spcBef>
                <a:spcPts val="300"/>
              </a:spcBef>
              <a:defRPr sz="1600">
                <a:solidFill>
                  <a:srgbClr val="333333"/>
                </a:solidFill>
              </a:defRPr>
            </a:pPr>
            <a:r>
              <a:t>Implement (Thực thi): AI thực hiện từng bước theo kế hoạch</a:t>
            </a:r>
          </a:p>
          <a:p>
            <a:pPr>
              <a:defRPr sz="1600" i="1">
                <a:solidFill>
                  <a:srgbClr val="2D5F9A"/>
                </a:solidFill>
              </a:defRPr>
            </a:pPr>
            <a:r>
              <a:t>"Contract-agent dùng đúng pattern này: đọc đơn hàng -&gt; lên kế hoạch hợp đồng -&gt; tạo file output."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D5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Chat Activity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475488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Bef>
                <a:spcPts val="800"/>
              </a:spcBef>
              <a:defRPr sz="1600" b="1">
                <a:solidFill>
                  <a:srgbClr val="2D5F9A"/>
                </a:solidFill>
              </a:defRPr>
            </a:pPr>
            <a:r>
              <a:t>Gõ vào chat Zoom:</a:t>
            </a:r>
          </a:p>
          <a:p>
            <a:pPr>
              <a:defRPr sz="1600" i="1">
                <a:solidFill>
                  <a:srgbClr val="2D5F9A"/>
                </a:solidFill>
              </a:defRPr>
            </a:pPr>
            <a:r>
              <a:t>""Nếu viết sổ tay cho AI trong công việc của bạn, 3 quy tắc quan trọng nhất là gì?""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(30 giây -- facilitator tổng hợp theo chủ đề)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D5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Case Study -- CLAUDE.md của contract-agent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475488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Bef>
                <a:spcPts val="800"/>
              </a:spcBef>
              <a:defRPr sz="1600" b="1">
                <a:solidFill>
                  <a:srgbClr val="2D5F9A"/>
                </a:solidFill>
              </a:defRPr>
            </a:pPr>
            <a:r>
              <a:t>Cùng phân tích tại sao contract-agent viết CLAUDE.md tốt: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Tiêu chí  |  Contract-agent làm đúng  |  Ví dụ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Vai trò cụ thể  |  Không mơ hồ  |  "Chuyên viên soạn hợp đồng dịch vụ" (không phải "trợ lý")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Quy tắc rõ  |  Có "không làm"  |  "Không nhập thông tin mật công ty"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Workflow có thứ tự  |  Đánh số rõ ràng  |  "1. Đọc 2. Tính 3. Viết 4. Kiểm tra"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Công cụ liệt kê  |  Input/Output rõ  |  "Input: prompt.md. Output: hop-dong.md"</a:t>
            </a:r>
          </a:p>
          <a:p>
            <a:pPr>
              <a:defRPr sz="1600" i="1">
                <a:solidFill>
                  <a:srgbClr val="2D5F9A"/>
                </a:solidFill>
              </a:defRPr>
            </a:pPr>
            <a:r>
              <a:t>"CLAUDE.md tổng quát (như sổ tay công ty) vs. SKILL.md chuyên biệt (như hướng dẫn 1 quy trình cụ thể)"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D5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MCP là gì?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475488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Bef>
                <a:spcPts val="800"/>
              </a:spcBef>
              <a:defRPr sz="1600" b="1">
                <a:solidFill>
                  <a:srgbClr val="2D5F9A"/>
                </a:solidFill>
              </a:defRPr>
            </a:pPr>
            <a:r>
              <a:t>Model Context Protocol -- Ổ cắm điện chuẩn quốc tế</a:t>
            </a:r>
          </a:p>
          <a:p>
            <a:pPr>
              <a:defRPr sz="1600" i="1">
                <a:solidFill>
                  <a:srgbClr val="2D5F9A"/>
                </a:solidFill>
              </a:defRPr>
            </a:pPr>
            <a:r>
              <a:t>""MCP = ổ cắm điện chuẩn. Cắm công cụ nào cũng chạy.""</a:t>
            </a:r>
          </a:p>
          <a:p>
            <a:pPr>
              <a:spcBef>
                <a:spcPts val="800"/>
              </a:spcBef>
              <a:defRPr sz="1600" b="1">
                <a:solidFill>
                  <a:srgbClr val="2D5F9A"/>
                </a:solidFill>
              </a:defRPr>
            </a:pPr>
            <a:r>
              <a:t>Ví dụ:</a:t>
            </a:r>
          </a:p>
          <a:p>
            <a:pPr>
              <a:spcBef>
                <a:spcPts val="300"/>
              </a:spcBef>
              <a:defRPr sz="1600">
                <a:solidFill>
                  <a:srgbClr val="333333"/>
                </a:solidFill>
              </a:defRPr>
            </a:pPr>
            <a:r>
              <a:t>•  Filesystem MCP: AI đọc file từ máy bạn (không cần copy-paste)</a:t>
            </a:r>
          </a:p>
          <a:p>
            <a:pPr>
              <a:spcBef>
                <a:spcPts val="300"/>
              </a:spcBef>
              <a:defRPr sz="1600">
                <a:solidFill>
                  <a:srgbClr val="333333"/>
                </a:solidFill>
              </a:defRPr>
            </a:pPr>
            <a:r>
              <a:t>•  Web Search MCP: AI tìm kiếm internet khi cần</a:t>
            </a:r>
          </a:p>
          <a:p>
            <a:pPr>
              <a:spcBef>
                <a:spcPts val="300"/>
              </a:spcBef>
              <a:defRPr sz="1600">
                <a:solidFill>
                  <a:srgbClr val="333333"/>
                </a:solidFill>
              </a:defRPr>
            </a:pPr>
            <a:r>
              <a:t>•  Database MCP: AI truy vấn cơ sở dữ liệu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D5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Bài tập 1 -- Viết CLAUDE.md hoàn chỉnh (15 phút)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475488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Bef>
                <a:spcPts val="800"/>
              </a:spcBef>
              <a:defRPr sz="1600" b="1">
                <a:solidFill>
                  <a:srgbClr val="2D5F9A"/>
                </a:solidFill>
              </a:defRPr>
            </a:pPr>
            <a:r>
              <a:t>Dùng bản nháp từ homework Buổi 3:</a:t>
            </a:r>
          </a:p>
          <a:p>
            <a:pPr>
              <a:spcBef>
                <a:spcPts val="300"/>
              </a:spcBef>
              <a:defRPr sz="1600">
                <a:solidFill>
                  <a:srgbClr val="333333"/>
                </a:solidFill>
              </a:defRPr>
            </a:pPr>
            <a:r>
              <a:t>Hoàn thiện 4 phần (Vai trò, Quy tắc, Workflow, Công cụ)</a:t>
            </a:r>
          </a:p>
          <a:p>
            <a:pPr>
              <a:spcBef>
                <a:spcPts val="300"/>
              </a:spcBef>
              <a:defRPr sz="1600">
                <a:solidFill>
                  <a:srgbClr val="333333"/>
                </a:solidFill>
              </a:defRPr>
            </a:pPr>
            <a:r>
              <a:t>Lưu file CLAUDE.md trong thư mục làm việc</a:t>
            </a:r>
          </a:p>
          <a:p>
            <a:pPr>
              <a:spcBef>
                <a:spcPts val="300"/>
              </a:spcBef>
              <a:defRPr sz="1600">
                <a:solidFill>
                  <a:srgbClr val="333333"/>
                </a:solidFill>
              </a:defRPr>
            </a:pPr>
            <a:r>
              <a:t>Chạy Claude Code với 1 tác vụ thực tế</a:t>
            </a:r>
          </a:p>
          <a:p>
            <a:pPr>
              <a:spcBef>
                <a:spcPts val="300"/>
              </a:spcBef>
              <a:defRPr sz="1600">
                <a:solidFill>
                  <a:srgbClr val="333333"/>
                </a:solidFill>
              </a:defRPr>
            </a:pPr>
            <a:r>
              <a:t>So sánh: có vs. không có CLAUDE.md</a:t>
            </a:r>
          </a:p>
          <a:p>
            <a:pPr>
              <a:spcBef>
                <a:spcPts val="300"/>
              </a:spcBef>
              <a:defRPr sz="1600">
                <a:solidFill>
                  <a:srgbClr val="333333"/>
                </a:solidFill>
              </a:defRPr>
            </a:pPr>
            <a:r>
              <a:t>Ghi lại 3 điểm khác biệt cụ thể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D5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Poll #2 -- Kết quả có CLAUDE.md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475488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Bef>
                <a:spcPts val="800"/>
              </a:spcBef>
              <a:defRPr sz="1600" b="1">
                <a:solidFill>
                  <a:srgbClr val="2D5F9A"/>
                </a:solidFill>
              </a:defRPr>
            </a:pPr>
            <a:r>
              <a:t>ZOOM POLL: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"Kết quả có CLAUDE.md tốt hơn bao nhiêu?"</a:t>
            </a:r>
          </a:p>
          <a:p>
            <a:pPr>
              <a:spcBef>
                <a:spcPts val="300"/>
              </a:spcBef>
              <a:defRPr sz="1600">
                <a:solidFill>
                  <a:srgbClr val="333333"/>
                </a:solidFill>
              </a:defRPr>
            </a:pPr>
            <a:r>
              <a:t>•  A. Giống nhau</a:t>
            </a:r>
          </a:p>
          <a:p>
            <a:pPr>
              <a:spcBef>
                <a:spcPts val="300"/>
              </a:spcBef>
              <a:defRPr sz="1600">
                <a:solidFill>
                  <a:srgbClr val="333333"/>
                </a:solidFill>
              </a:defRPr>
            </a:pPr>
            <a:r>
              <a:t>•  B. Tốt hơn chút</a:t>
            </a:r>
          </a:p>
          <a:p>
            <a:pPr>
              <a:spcBef>
                <a:spcPts val="300"/>
              </a:spcBef>
              <a:defRPr sz="1600">
                <a:solidFill>
                  <a:srgbClr val="333333"/>
                </a:solidFill>
              </a:defRPr>
            </a:pPr>
            <a:r>
              <a:t>•  C. Tốt hơn nhiều</a:t>
            </a:r>
          </a:p>
          <a:p>
            <a:pPr>
              <a:spcBef>
                <a:spcPts val="300"/>
              </a:spcBef>
              <a:defRPr sz="1600">
                <a:solidFill>
                  <a:srgbClr val="333333"/>
                </a:solidFill>
              </a:defRPr>
            </a:pPr>
            <a:r>
              <a:t>•  D. Khác hoàn toàn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D5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Bài tập 2 -- Kết nối MCP Tool (10 phút)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475488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Bef>
                <a:spcPts val="800"/>
              </a:spcBef>
              <a:defRPr sz="1600" b="1">
                <a:solidFill>
                  <a:srgbClr val="2D5F9A"/>
                </a:solidFill>
              </a:defRPr>
            </a:pPr>
            <a:r>
              <a:t>Hướng dẫn từng bước:</a:t>
            </a:r>
          </a:p>
          <a:p>
            <a:pPr>
              <a:spcBef>
                <a:spcPts val="300"/>
              </a:spcBef>
              <a:defRPr sz="1600">
                <a:solidFill>
                  <a:srgbClr val="333333"/>
                </a:solidFill>
              </a:defRPr>
            </a:pPr>
            <a:r>
              <a:t>Mở file cấu hình Claude Code</a:t>
            </a:r>
          </a:p>
          <a:p>
            <a:pPr>
              <a:spcBef>
                <a:spcPts val="300"/>
              </a:spcBef>
              <a:defRPr sz="1600">
                <a:solidFill>
                  <a:srgbClr val="333333"/>
                </a:solidFill>
              </a:defRPr>
            </a:pPr>
            <a:r>
              <a:t>Thêm filesystem MCP tool</a:t>
            </a:r>
          </a:p>
          <a:p>
            <a:pPr>
              <a:spcBef>
                <a:spcPts val="300"/>
              </a:spcBef>
              <a:defRPr sz="1600">
                <a:solidFill>
                  <a:srgbClr val="333333"/>
                </a:solidFill>
              </a:defRPr>
            </a:pPr>
            <a:r>
              <a:t>Khởi động lại Claude Code</a:t>
            </a:r>
          </a:p>
          <a:p>
            <a:pPr>
              <a:spcBef>
                <a:spcPts val="300"/>
              </a:spcBef>
              <a:defRPr sz="1600">
                <a:solidFill>
                  <a:srgbClr val="333333"/>
                </a:solidFill>
              </a:defRPr>
            </a:pPr>
            <a:r>
              <a:t>Test: yêu cầu Claude Code đọc 1 file từ máy</a:t>
            </a:r>
          </a:p>
          <a:p>
            <a:pPr>
              <a:spcBef>
                <a:spcPts val="800"/>
              </a:spcBef>
              <a:defRPr sz="1600" b="1">
                <a:solidFill>
                  <a:srgbClr val="2D5F9A"/>
                </a:solidFill>
              </a:defRPr>
            </a:pPr>
            <a:r>
              <a:t>Xác nhận thành công:</a:t>
            </a:r>
          </a:p>
          <a:p>
            <a:pPr>
              <a:defRPr sz="1600" i="1">
                <a:solidFill>
                  <a:srgbClr val="2D5F9A"/>
                </a:solidFill>
              </a:defRPr>
            </a:pPr>
            <a:r>
              <a:t>""Claude, đọc file [tên-file] trên máy tôi và tóm tắt nội dung.""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D5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Poll #3 -- MCP hoạt động không?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475488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Bef>
                <a:spcPts val="800"/>
              </a:spcBef>
              <a:defRPr sz="1600" b="1">
                <a:solidFill>
                  <a:srgbClr val="2D5F9A"/>
                </a:solidFill>
              </a:defRPr>
            </a:pPr>
            <a:r>
              <a:t>ZOOM POLL: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"MCP filesystem có hoạt động không?"</a:t>
            </a:r>
          </a:p>
          <a:p>
            <a:pPr>
              <a:spcBef>
                <a:spcPts val="300"/>
              </a:spcBef>
              <a:defRPr sz="1600">
                <a:solidFill>
                  <a:srgbClr val="333333"/>
                </a:solidFill>
              </a:defRPr>
            </a:pPr>
            <a:r>
              <a:t>•  A. Có, đọc được file</a:t>
            </a:r>
          </a:p>
          <a:p>
            <a:pPr>
              <a:spcBef>
                <a:spcPts val="300"/>
              </a:spcBef>
              <a:defRPr sz="1600">
                <a:solidFill>
                  <a:srgbClr val="333333"/>
                </a:solidFill>
              </a:defRPr>
            </a:pPr>
            <a:r>
              <a:t>•  B. Có nhưng partial</a:t>
            </a:r>
          </a:p>
          <a:p>
            <a:pPr>
              <a:spcBef>
                <a:spcPts val="300"/>
              </a:spcBef>
              <a:defRPr sz="1600">
                <a:solidFill>
                  <a:srgbClr val="333333"/>
                </a:solidFill>
              </a:defRPr>
            </a:pPr>
            <a:r>
              <a:t>•  C. Không, gặp lỗi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D5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Bài tập 3 -- CLAUDE.md nâng cao (15 phút)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475488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Bef>
                <a:spcPts val="800"/>
              </a:spcBef>
              <a:defRPr sz="1600" b="1">
                <a:solidFill>
                  <a:srgbClr val="2D5F9A"/>
                </a:solidFill>
              </a:defRPr>
            </a:pPr>
            <a:r>
              <a:t>Thêm 3 yếu tố nâng cao vào CLAUDE.md:</a:t>
            </a:r>
          </a:p>
          <a:p>
            <a:pPr>
              <a:spcBef>
                <a:spcPts val="300"/>
              </a:spcBef>
              <a:defRPr sz="1600">
                <a:solidFill>
                  <a:srgbClr val="333333"/>
                </a:solidFill>
              </a:defRPr>
            </a:pPr>
            <a:r>
              <a:t>Ví dụ output mong muốn (few-shot trong CLAUDE.md):</a:t>
            </a:r>
          </a:p>
          <a:p>
            <a:pPr>
              <a:defRPr sz="1400">
                <a:solidFill>
                  <a:srgbClr val="333333"/>
                </a:solidFill>
                <a:latin typeface="Consolas"/>
              </a:defRPr>
            </a:pPr>
            <a:r>
              <a:t>   ## Ví dụ output</a:t>
            </a:r>
          </a:p>
          <a:p>
            <a:pPr>
              <a:defRPr sz="1400">
                <a:solidFill>
                  <a:srgbClr val="333333"/>
                </a:solidFill>
                <a:latin typeface="Consolas"/>
              </a:defRPr>
            </a:pPr>
            <a:r>
              <a:t>   Khi được hỏi soạn email báo cáo, output trông như thế này:</a:t>
            </a:r>
          </a:p>
          <a:p>
            <a:pPr>
              <a:defRPr sz="1400">
                <a:solidFill>
                  <a:srgbClr val="333333"/>
                </a:solidFill>
                <a:latin typeface="Consolas"/>
              </a:defRPr>
            </a:pPr>
            <a:r>
              <a:t>   [dán ví dụ thực tế]</a:t>
            </a:r>
          </a:p>
          <a:p>
            <a:pPr>
              <a:spcBef>
                <a:spcPts val="300"/>
              </a:spcBef>
              <a:defRPr sz="1600">
                <a:solidFill>
                  <a:srgbClr val="333333"/>
                </a:solidFill>
              </a:defRPr>
            </a:pPr>
            <a:r>
              <a:t>Từ vựng chuyên ngành:</a:t>
            </a:r>
          </a:p>
          <a:p>
            <a:pPr>
              <a:defRPr sz="1400">
                <a:solidFill>
                  <a:srgbClr val="333333"/>
                </a:solidFill>
                <a:latin typeface="Consolas"/>
              </a:defRPr>
            </a:pPr>
            <a:r>
              <a:t>   ## Thuật ngữ</a:t>
            </a:r>
          </a:p>
          <a:p>
            <a:pPr>
              <a:defRPr sz="1400">
                <a:solidFill>
                  <a:srgbClr val="333333"/>
                </a:solidFill>
                <a:latin typeface="Consolas"/>
              </a:defRPr>
            </a:pPr>
            <a:r>
              <a:t>   - KPI = chỉ số hiệu suất (không dùng "chỉ tiêu")</a:t>
            </a:r>
          </a:p>
          <a:p>
            <a:pPr>
              <a:defRPr sz="1400">
                <a:solidFill>
                  <a:srgbClr val="333333"/>
                </a:solidFill>
                <a:latin typeface="Consolas"/>
              </a:defRPr>
            </a:pPr>
            <a:r>
              <a:t>   - Sprint = chu kỳ phát triển 2 tuần</a:t>
            </a:r>
          </a:p>
          <a:p>
            <a:pPr>
              <a:spcBef>
                <a:spcPts val="300"/>
              </a:spcBef>
              <a:defRPr sz="1600">
                <a:solidFill>
                  <a:srgbClr val="333333"/>
                </a:solidFill>
              </a:defRPr>
            </a:pPr>
            <a:r>
              <a:t>Quy tắc "không làm" quan trọng:</a:t>
            </a:r>
          </a:p>
          <a:p>
            <a:pPr>
              <a:defRPr sz="1400">
                <a:solidFill>
                  <a:srgbClr val="333333"/>
                </a:solidFill>
                <a:latin typeface="Consolas"/>
              </a:defRPr>
            </a:pPr>
            <a:r>
              <a:t>   ## Không được</a:t>
            </a:r>
          </a:p>
          <a:p>
            <a:pPr>
              <a:defRPr sz="1400">
                <a:solidFill>
                  <a:srgbClr val="333333"/>
                </a:solidFill>
                <a:latin typeface="Consolas"/>
              </a:defRPr>
            </a:pPr>
            <a:r>
              <a:t>   - Không bịa số liệu khi không có dữ liệu</a:t>
            </a:r>
          </a:p>
          <a:p>
            <a:pPr>
              <a:defRPr sz="1400">
                <a:solidFill>
                  <a:srgbClr val="333333"/>
                </a:solidFill>
                <a:latin typeface="Consolas"/>
              </a:defRPr>
            </a:pPr>
            <a:r>
              <a:t>   - Không dùng giọng suồng sã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-&gt; Test lại với tác vụ phức tạp hơn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D5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3 Takeaway hôm nay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475488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Bef>
                <a:spcPts val="300"/>
              </a:spcBef>
              <a:defRPr sz="1600">
                <a:solidFill>
                  <a:srgbClr val="333333"/>
                </a:solidFill>
              </a:defRPr>
            </a:pPr>
            <a:r>
              <a:t>Context Engineering &gt; Prompt Engineering -- thiết kế môi trường, không chỉ viết câu hỏi</a:t>
            </a:r>
          </a:p>
          <a:p>
            <a:pPr>
              <a:spcBef>
                <a:spcPts val="300"/>
              </a:spcBef>
              <a:defRPr sz="1600">
                <a:solidFill>
                  <a:srgbClr val="333333"/>
                </a:solidFill>
              </a:defRPr>
            </a:pPr>
            <a:r>
              <a:t>Smart Zone = CLAUDE.md luôn có hiệu lực, Working Zone có thể bị nén</a:t>
            </a:r>
          </a:p>
          <a:p>
            <a:pPr>
              <a:spcBef>
                <a:spcPts val="300"/>
              </a:spcBef>
              <a:defRPr sz="1600">
                <a:solidFill>
                  <a:srgbClr val="333333"/>
                </a:solidFill>
              </a:defRPr>
            </a:pPr>
            <a:r>
              <a:t>MCP = mở rộng khả năng AI bằng cách kết nối công cụ bên ngoài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D5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Bài tập về nhà (30 phút)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475488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Bef>
                <a:spcPts val="300"/>
              </a:spcBef>
              <a:defRPr sz="1600">
                <a:solidFill>
                  <a:srgbClr val="333333"/>
                </a:solidFill>
              </a:defRPr>
            </a:pPr>
            <a:r>
              <a:t>Hoàn thiện CLAUDE.md -- đưa ví dụ output mong muốn vào</a:t>
            </a:r>
          </a:p>
          <a:p>
            <a:pPr>
              <a:spcBef>
                <a:spcPts val="300"/>
              </a:spcBef>
              <a:defRPr sz="1600">
                <a:solidFill>
                  <a:srgbClr val="333333"/>
                </a:solidFill>
              </a:defRPr>
            </a:pPr>
            <a:r>
              <a:t>Hoàn thành bản nháp SKILL.md cho 1 quy trình:</a:t>
            </a:r>
          </a:p>
          <a:p>
            <a:pPr lvl="1">
              <a:spcBef>
                <a:spcPts val="300"/>
              </a:spcBef>
              <a:defRPr sz="1600">
                <a:solidFill>
                  <a:srgbClr val="333333"/>
                </a:solidFill>
              </a:defRPr>
            </a:pPr>
            <a:r>
              <a:t>•  Mục tiêu, ngữ cảnh, input, các bước, ví dụ, ràng buộc</a:t>
            </a:r>
          </a:p>
          <a:p>
            <a:pPr lvl="1">
              <a:spcBef>
                <a:spcPts val="300"/>
              </a:spcBef>
              <a:defRPr sz="1600">
                <a:solidFill>
                  <a:srgbClr val="333333"/>
                </a:solidFill>
              </a:defRPr>
            </a:pPr>
            <a:r>
              <a:t>•  Lấy cảm hứng từ contract-agent nhưng cho workflow cá nhân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-&gt; Mang bản nháp SKILL.md đến Buổi 5</a:t>
            </a:r>
          </a:p>
          <a:p>
            <a:pPr>
              <a:spcBef>
                <a:spcPts val="800"/>
              </a:spcBef>
              <a:defRPr sz="1600" b="1">
                <a:solidFill>
                  <a:srgbClr val="2D5F9A"/>
                </a:solidFill>
              </a:defRPr>
            </a:pPr>
            <a:r>
              <a:t>Preview Buổi 5:</a:t>
            </a:r>
          </a:p>
          <a:p>
            <a:pPr>
              <a:defRPr sz="1600" i="1">
                <a:solidFill>
                  <a:srgbClr val="2D5F9A"/>
                </a:solidFill>
              </a:defRPr>
            </a:pPr>
            <a:r>
              <a:t>""Buổi cuối: bạn sẽ xây dựng SKILL.md riêng -- giống contract-agent nhưng cho công việc của bạn -- và trình bày trước lớp. Chuẩn bị bản nháp!""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