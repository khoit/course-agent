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giới thiệu. Paste thông tin, gõ prompt đơn giản: "Đọc thông tin này và cho tôi biết các điểm chính cần có trong hợp đồng dịch vụ." Đọc kết quả. Để lớp phản ứng 10 giây trước khi nói tiếp.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kết quả nhanh. Nếu &gt;50% chọn B -&gt; nhấn mạnh phần kiểm chứng ở slide 5. Chuyển tiếp: "Vậy AI vừa làm gì? Hãy cùng tìm hiểu."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điểm giải thích 1-2 phút, dùng ngôn ngữ đời thường. Câu hỏi thường gặp: "AI có hiểu không?" -&gt; "Không hiểu như người, nhưng dự đoán rất giỏi."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Chọn 1 câu từ manager, 1 từ marketer, 1 từ teacher nếu có thể. Kết nối: "Tất cả những việc này đều có thể làm tốt hơn với prompt tốt hơn."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dùng ví dụ nhạy cảm. Kết quả hợp đồng/kinh doanh là an toàn. Nhấn mạnh: "AI bịa rất tự tin -- nên LUÔN kiểm tra số liệu."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100% chọn A sau khóa học. Nếu nhiều người chọn C/D -&gt; "Đó là lý do chúng ta cần công thức prompt tốt hơn -- giảm rủi ro bịa."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Claude.ai, gõ prompt RTF live. Đọc kết quả và so sánh trực tiếp: "Thấy sự khác biệt chưa?"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Thường 70%+ chọn A. Nếu có người chọn D -&gt; hỏi cụ thể, có thể prompt bị lỗi -&gt; cơ hội coaching.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ngay: viết prompt 6 thành phần cho tác vụ hợp đồng. Chạy trên Claude.ai. So sánh với RTF.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Gõ live, không copy-paste. Để lớp thấy quá trình tư duy khi viết prompt.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Chia sẻ màn hình, làm từng bước chậm. TA hỗ trợ qua chat nếu ai gặp lỗi. Dành 5 phút cho bước này.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prompt backup nếu học viên bí: manager (email báo cáo), marketer (tiêu đề quảng cáo), teacher (bài tập Toán).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kỹ thuật nâng cao nhất Session 1. Nếu học viên chưa quen -&gt; hướng dẫn từng bước.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Thảo luận nhanh: "Ai chọn A -- kết quả khác thế nào? Ai chọn D -- khó ở chỗ nào?" 2 phút.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Khuyến khích đa dạng: 1 manager, 1 marketer, 1 teacher. Hỏi lớp: "Prompt này thiếu thành phần gì?"</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828800"/>
            <a:ext cx="10360152" cy="2286000"/>
          </a:xfrm>
          <a:prstGeom prst="rect">
            <a:avLst/>
          </a:prstGeom>
          <a:noFill/>
        </p:spPr>
        <p:txBody>
          <a:bodyPr wrap="square">
            <a:spAutoFit/>
          </a:bodyPr>
          <a:lstStyle/>
          <a:p>
            <a:pPr algn="ctr">
              <a:defRPr sz="3600" b="1">
                <a:solidFill>
                  <a:srgbClr val="FFFFFF"/>
                </a:solidFill>
              </a:defRPr>
            </a:pPr>
            <a:r>
              <a:t>Buổi 1: AI + Prompt Mastery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(Slide)</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Trên màn hình:</a:t>
            </a:r>
          </a:p>
          <a:p>
            <a:pPr>
              <a:spcBef>
                <a:spcPts val="300"/>
              </a:spcBef>
              <a:defRPr sz="1600">
                <a:solidFill>
                  <a:srgbClr val="333333"/>
                </a:solidFill>
              </a:defRPr>
            </a:pPr>
            <a:r>
              <a:t>•  Thông tin đơn đặt hàng: TNHH Google Vietnam, 9 Đinh Tiên Hoàng, TP.HCM</a:t>
            </a:r>
          </a:p>
          <a:p>
            <a:pPr>
              <a:spcBef>
                <a:spcPts val="300"/>
              </a:spcBef>
              <a:defRPr sz="1600">
                <a:solidFill>
                  <a:srgbClr val="333333"/>
                </a:solidFill>
              </a:defRPr>
            </a:pPr>
            <a:r>
              <a:t>•  Dịch vụ: Làm mobile (10 triệu), Design nhà (5 triệu), VAT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Poll #1 -- Phản ứng đầu tiên</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ZOOM POLL:</a:t>
            </a:r>
          </a:p>
          <a:p>
            <a:pPr>
              <a:defRPr sz="1600">
                <a:solidFill>
                  <a:srgbClr val="333333"/>
                </a:solidFill>
              </a:defRPr>
            </a:pPr>
            <a:r>
              <a:t>"Phản ứng đầu tiên của bạn khi thấy demo vừa rồi?"</a:t>
            </a:r>
          </a:p>
          <a:p>
            <a:pPr>
              <a:spcBef>
                <a:spcPts val="300"/>
              </a:spcBef>
              <a:defRPr sz="1600">
                <a:solidFill>
                  <a:srgbClr val="333333"/>
                </a:solidFill>
              </a:defRPr>
            </a:pPr>
            <a:r>
              <a:t>•  A. Ấn tượng</a:t>
            </a:r>
          </a:p>
          <a:p>
            <a:pPr>
              <a:spcBef>
                <a:spcPts val="300"/>
              </a:spcBef>
              <a:defRPr sz="1600">
                <a:solidFill>
                  <a:srgbClr val="333333"/>
                </a:solidFill>
              </a:defRPr>
            </a:pPr>
            <a:r>
              <a:t>•  B. Không chắc chính xác không</a:t>
            </a:r>
          </a:p>
          <a:p>
            <a:pPr>
              <a:spcBef>
                <a:spcPts val="300"/>
              </a:spcBef>
              <a:defRPr sz="1600">
                <a:solidFill>
                  <a:srgbClr val="333333"/>
                </a:solidFill>
              </a:defRPr>
            </a:pPr>
            <a:r>
              <a:t>•  C. Muốn thử ngay</a:t>
            </a:r>
          </a:p>
          <a:p>
            <a:pPr>
              <a:spcBef>
                <a:spcPts val="300"/>
              </a:spcBef>
              <a:defRPr sz="1600">
                <a:solidFill>
                  <a:srgbClr val="333333"/>
                </a:solidFill>
              </a:defRPr>
            </a:pPr>
            <a:r>
              <a:t>•  D. Đã biết rồi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AI hoạt động thế nào? -- 3 Mô hình tư duy</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1. Máy dự đoán từ (Word Prediction Machine)</a:t>
            </a:r>
          </a:p>
          <a:p>
            <a:pPr>
              <a:spcBef>
                <a:spcPts val="300"/>
              </a:spcBef>
              <a:defRPr sz="1600">
                <a:solidFill>
                  <a:srgbClr val="333333"/>
                </a:solidFill>
              </a:defRPr>
            </a:pPr>
            <a:r>
              <a:t>•  AI hoàn thành câu giống autocomplete điện thoại -- nhưng ở quy mô hàng tỷ tài liệu</a:t>
            </a:r>
          </a:p>
          <a:p>
            <a:pPr>
              <a:spcBef>
                <a:spcPts val="800"/>
              </a:spcBef>
              <a:defRPr sz="1600" b="1">
                <a:solidFill>
                  <a:srgbClr val="2D5F9A"/>
                </a:solidFill>
              </a:defRPr>
            </a:pPr>
            <a:r>
              <a:t>2. Dữ liệu huấn luyện (Training Data)</a:t>
            </a:r>
          </a:p>
          <a:p>
            <a:pPr>
              <a:spcBef>
                <a:spcPts val="300"/>
              </a:spcBef>
              <a:defRPr sz="1600">
                <a:solidFill>
                  <a:srgbClr val="333333"/>
                </a:solidFill>
              </a:defRPr>
            </a:pPr>
            <a:r>
              <a:t>•  "AI đọc sách, không sống đời" -- nó biết hợp đồng vì đã đọc hàng nghìn hợp đồng</a:t>
            </a:r>
          </a:p>
          <a:p>
            <a:pPr>
              <a:spcBef>
                <a:spcPts val="800"/>
              </a:spcBef>
              <a:defRPr sz="1600" b="1">
                <a:solidFill>
                  <a:srgbClr val="2D5F9A"/>
                </a:solidFill>
              </a:defRPr>
            </a:pPr>
            <a:r>
              <a:t>3. Cửa sổ ngữ cảnh (Context Window)</a:t>
            </a:r>
          </a:p>
          <a:p>
            <a:pPr>
              <a:spcBef>
                <a:spcPts val="300"/>
              </a:spcBef>
              <a:defRPr sz="1600">
                <a:solidFill>
                  <a:srgbClr val="333333"/>
                </a:solidFill>
              </a:defRPr>
            </a:pPr>
            <a:r>
              <a:t>•  AI nhớ cuộc trò chuyện, nhưng có giới hạn -- như bộ nhớ làm việc của người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Chat Activity</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Gõ vào chat Zoom:</a:t>
            </a:r>
          </a:p>
          <a:p>
            <a:pPr>
              <a:defRPr sz="1600" i="1">
                <a:solidFill>
                  <a:srgbClr val="2D5F9A"/>
                </a:solidFill>
              </a:defRPr>
            </a:pPr>
            <a:r>
              <a:t>""AI có thể làm được gì trong công việc của BẠN?""</a:t>
            </a:r>
          </a:p>
          <a:p>
            <a:pPr>
              <a:defRPr sz="1600">
                <a:solidFill>
                  <a:srgbClr val="333333"/>
                </a:solidFill>
              </a:defRPr>
            </a:pPr>
            <a:r>
              <a:t>(30 giây -- facilitator đọc 3 câu trả lời)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Ảo giác AI (Hallucination) -- Cẩn thận!</a:t>
            </a:r>
          </a:p>
        </p:txBody>
      </p:sp>
      <p:sp>
        <p:nvSpPr>
          <p:cNvPr id="4" name="TextBox 3"/>
          <p:cNvSpPr txBox="1"/>
          <p:nvPr/>
        </p:nvSpPr>
        <p:spPr>
          <a:xfrm>
            <a:off x="548640" y="1188720"/>
            <a:ext cx="10972800" cy="4754880"/>
          </a:xfrm>
          <a:prstGeom prst="rect">
            <a:avLst/>
          </a:prstGeom>
          <a:noFill/>
        </p:spPr>
        <p:txBody>
          <a:bodyPr wrap="square"/>
          <a:lstStyle/>
          <a:p>
            <a:pPr>
              <a:spcBef>
                <a:spcPts val="600"/>
              </a:spcBef>
            </a:pPr>
            <a:r>
              <a:rPr sz="1600" b="1">
                <a:solidFill>
                  <a:srgbClr val="2D5F9A"/>
                </a:solidFill>
              </a:rPr>
              <a:t>Demo trực tiếp: </a:t>
            </a:r>
            <a:r>
              <a:rPr sz="1600">
                <a:solidFill>
                  <a:srgbClr val="333333"/>
                </a:solidFill>
              </a:rPr>
              <a:t>Hỏi Claude về đơn hàng vừa rồi:</a:t>
            </a:r>
          </a:p>
          <a:p>
            <a:pPr>
              <a:defRPr sz="1600" i="1">
                <a:solidFill>
                  <a:srgbClr val="2D5F9A"/>
                </a:solidFill>
              </a:defRPr>
            </a:pPr>
            <a:r>
              <a:t>""Tổng giá trị hợp đồng là bao nhiêu sau thuế?""</a:t>
            </a:r>
          </a:p>
          <a:p>
            <a:pPr>
              <a:defRPr sz="1600" i="1">
                <a:solidFill>
                  <a:srgbClr val="2D5F9A"/>
                </a:solidFill>
              </a:defRPr>
            </a:pPr>
            <a:r>
              <a:t>"(Đơn hàng KHÔNG ghi tổng -- AI sẽ tính hoặc bịa)"</a:t>
            </a:r>
          </a:p>
          <a:p>
            <a:pPr>
              <a:spcBef>
                <a:spcPts val="800"/>
              </a:spcBef>
              <a:defRPr sz="1600" b="1">
                <a:solidFill>
                  <a:srgbClr val="2D5F9A"/>
                </a:solidFill>
              </a:defRPr>
            </a:pPr>
            <a:r>
              <a:t>Bài học:</a:t>
            </a:r>
          </a:p>
          <a:p>
            <a:pPr>
              <a:spcBef>
                <a:spcPts val="300"/>
              </a:spcBef>
              <a:defRPr sz="1600">
                <a:solidFill>
                  <a:srgbClr val="333333"/>
                </a:solidFill>
              </a:defRPr>
            </a:pPr>
            <a:r>
              <a:t>•  AI giỏi nhất khi bạn biết chủ đề đủ để đánh giá</a:t>
            </a:r>
          </a:p>
          <a:p>
            <a:pPr>
              <a:spcBef>
                <a:spcPts val="300"/>
              </a:spcBef>
              <a:defRPr sz="1600">
                <a:solidFill>
                  <a:srgbClr val="333333"/>
                </a:solidFill>
              </a:defRPr>
            </a:pPr>
            <a:r>
              <a:t>•  Chiến lược tam giác hóa nguồn: kiểm tra 2+ nguồn độc lập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Poll #2 -- Thói quen kiểm chứng</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ZOOM POLL:</a:t>
            </a:r>
          </a:p>
          <a:p>
            <a:pPr>
              <a:defRPr sz="1600">
                <a:solidFill>
                  <a:srgbClr val="333333"/>
                </a:solidFill>
              </a:defRPr>
            </a:pPr>
            <a:r>
              <a:t>"Bạn sẽ kiểm tra lại kết quả AI trước khi dùng không?"</a:t>
            </a:r>
          </a:p>
          <a:p>
            <a:pPr>
              <a:spcBef>
                <a:spcPts val="300"/>
              </a:spcBef>
              <a:defRPr sz="1600">
                <a:solidFill>
                  <a:srgbClr val="333333"/>
                </a:solidFill>
              </a:defRPr>
            </a:pPr>
            <a:r>
              <a:t>•  A. Luôn luôn</a:t>
            </a:r>
          </a:p>
          <a:p>
            <a:pPr>
              <a:spcBef>
                <a:spcPts val="300"/>
              </a:spcBef>
              <a:defRPr sz="1600">
                <a:solidFill>
                  <a:srgbClr val="333333"/>
                </a:solidFill>
              </a:defRPr>
            </a:pPr>
            <a:r>
              <a:t>•  B. Thỉnh thoảng</a:t>
            </a:r>
          </a:p>
          <a:p>
            <a:pPr>
              <a:spcBef>
                <a:spcPts val="300"/>
              </a:spcBef>
              <a:defRPr sz="1600">
                <a:solidFill>
                  <a:srgbClr val="333333"/>
                </a:solidFill>
              </a:defRPr>
            </a:pPr>
            <a:r>
              <a:t>•  C. Hiếm khi</a:t>
            </a:r>
          </a:p>
          <a:p>
            <a:pPr>
              <a:spcBef>
                <a:spcPts val="300"/>
              </a:spcBef>
              <a:defRPr sz="1600">
                <a:solidFill>
                  <a:srgbClr val="333333"/>
                </a:solidFill>
              </a:defRPr>
            </a:pPr>
            <a:r>
              <a:t>•  D. Chưa nghĩ đến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Công thức Prompt đầu tiên -- RTF</a:t>
            </a:r>
          </a:p>
        </p:txBody>
      </p:sp>
      <p:sp>
        <p:nvSpPr>
          <p:cNvPr id="4" name="TextBox 3"/>
          <p:cNvSpPr txBox="1"/>
          <p:nvPr/>
        </p:nvSpPr>
        <p:spPr>
          <a:xfrm>
            <a:off x="548640" y="1188720"/>
            <a:ext cx="10972800" cy="4754880"/>
          </a:xfrm>
          <a:prstGeom prst="rect">
            <a:avLst/>
          </a:prstGeom>
          <a:noFill/>
        </p:spPr>
        <p:txBody>
          <a:bodyPr wrap="square"/>
          <a:lstStyle/>
          <a:p>
            <a:pPr>
              <a:defRPr sz="1400">
                <a:solidFill>
                  <a:srgbClr val="333333"/>
                </a:solidFill>
              </a:defRPr>
            </a:pPr>
            <a:r>
              <a:t>Thành phần  |  Ý nghĩa  |  Ví dụ</a:t>
            </a:r>
          </a:p>
          <a:p>
            <a:pPr>
              <a:defRPr sz="1400">
                <a:solidFill>
                  <a:srgbClr val="333333"/>
                </a:solidFill>
              </a:defRPr>
            </a:pPr>
            <a:r>
              <a:t>R -- Vai trò (Role)  |  AI đóng vai gì  |  "Chuyên gia pháp lý hợp đồng"</a:t>
            </a:r>
          </a:p>
          <a:p>
            <a:pPr>
              <a:defRPr sz="1400">
                <a:solidFill>
                  <a:srgbClr val="333333"/>
                </a:solidFill>
              </a:defRPr>
            </a:pPr>
            <a:r>
              <a:t>T -- Tác vụ (Task)  |  AI cần làm gì  |  "Tóm tắt 5 điểm chính cho hợp đồng"</a:t>
            </a:r>
          </a:p>
          <a:p>
            <a:pPr>
              <a:defRPr sz="1400">
                <a:solidFill>
                  <a:srgbClr val="333333"/>
                </a:solidFill>
              </a:defRPr>
            </a:pPr>
            <a:r>
              <a:t>F -- Định dạng (Format)  |  Kết quả trình bày thế nào  |  "Danh sách bullet points, mỗi điểm 1 câu"</a:t>
            </a:r>
          </a:p>
          <a:p>
            <a:pPr>
              <a:spcBef>
                <a:spcPts val="600"/>
              </a:spcBef>
            </a:pPr>
            <a:r>
              <a:rPr sz="1600" b="1">
                <a:solidFill>
                  <a:srgbClr val="2D5F9A"/>
                </a:solidFill>
              </a:rPr>
              <a:t>Demo ngay: </a:t>
            </a:r>
            <a:r>
              <a:rPr sz="1600">
                <a:solidFill>
                  <a:srgbClr val="333333"/>
                </a:solidFill>
              </a:rPr>
              <a:t>Viết prompt RTF cho cùng đơn hàng Google Vietnam -&gt; Chạy -&gt; So sánh với prompt đơn giản ở slide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Poll #3 -- So sánh kết quả</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ZOOM POLL:</a:t>
            </a:r>
          </a:p>
          <a:p>
            <a:pPr>
              <a:defRPr sz="1600">
                <a:solidFill>
                  <a:srgbClr val="333333"/>
                </a:solidFill>
              </a:defRPr>
            </a:pPr>
            <a:r>
              <a:t>"Kết quả prompt RTF có tốt hơn không?"</a:t>
            </a:r>
          </a:p>
          <a:p>
            <a:pPr>
              <a:spcBef>
                <a:spcPts val="300"/>
              </a:spcBef>
              <a:defRPr sz="1600">
                <a:solidFill>
                  <a:srgbClr val="333333"/>
                </a:solidFill>
              </a:defRPr>
            </a:pPr>
            <a:r>
              <a:t>•  A. Tốt hơn nhiều</a:t>
            </a:r>
          </a:p>
          <a:p>
            <a:pPr>
              <a:spcBef>
                <a:spcPts val="300"/>
              </a:spcBef>
              <a:defRPr sz="1600">
                <a:solidFill>
                  <a:srgbClr val="333333"/>
                </a:solidFill>
              </a:defRPr>
            </a:pPr>
            <a:r>
              <a:t>•  B. Tốt hơn chút</a:t>
            </a:r>
          </a:p>
          <a:p>
            <a:pPr>
              <a:spcBef>
                <a:spcPts val="300"/>
              </a:spcBef>
              <a:defRPr sz="1600">
                <a:solidFill>
                  <a:srgbClr val="333333"/>
                </a:solidFill>
              </a:defRPr>
            </a:pPr>
            <a:r>
              <a:t>•  C. Giống nhau</a:t>
            </a:r>
          </a:p>
          <a:p>
            <a:pPr>
              <a:spcBef>
                <a:spcPts val="300"/>
              </a:spcBef>
              <a:defRPr sz="1600">
                <a:solidFill>
                  <a:srgbClr val="333333"/>
                </a:solidFill>
              </a:defRPr>
            </a:pPr>
            <a:r>
              <a:t>•  D. Tệ hơn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6 Thành phần Prompt -- Bộ công cụ đầy đủ</a:t>
            </a:r>
          </a:p>
        </p:txBody>
      </p:sp>
      <p:sp>
        <p:nvSpPr>
          <p:cNvPr id="4" name="TextBox 3"/>
          <p:cNvSpPr txBox="1"/>
          <p:nvPr/>
        </p:nvSpPr>
        <p:spPr>
          <a:xfrm>
            <a:off x="548640" y="1188720"/>
            <a:ext cx="10972800" cy="4754880"/>
          </a:xfrm>
          <a:prstGeom prst="rect">
            <a:avLst/>
          </a:prstGeom>
          <a:noFill/>
        </p:spPr>
        <p:txBody>
          <a:bodyPr wrap="square"/>
          <a:lstStyle/>
          <a:p>
            <a:pPr>
              <a:defRPr sz="1400">
                <a:solidFill>
                  <a:srgbClr val="333333"/>
                </a:solidFill>
              </a:defRPr>
            </a:pPr>
            <a:r>
              <a:t>#  |  Thành phần  |  Viết tắt  |  Mô tả</a:t>
            </a:r>
          </a:p>
          <a:p>
            <a:pPr>
              <a:defRPr sz="1400">
                <a:solidFill>
                  <a:srgbClr val="333333"/>
                </a:solidFill>
              </a:defRPr>
            </a:pPr>
            <a:r>
              <a:t>1  |  Vai trò (Role)  |  R  |  AI đóng vai chuyên gia nào</a:t>
            </a:r>
          </a:p>
          <a:p>
            <a:pPr>
              <a:defRPr sz="1400">
                <a:solidFill>
                  <a:srgbClr val="333333"/>
                </a:solidFill>
              </a:defRPr>
            </a:pPr>
            <a:r>
              <a:t>2  |  Giọng điệu (Tone)  |  T  |  Phong cách: chuyên nghiệp, thân thiện, ngắn gọn</a:t>
            </a:r>
          </a:p>
          <a:p>
            <a:pPr>
              <a:defRPr sz="1400">
                <a:solidFill>
                  <a:srgbClr val="333333"/>
                </a:solidFill>
              </a:defRPr>
            </a:pPr>
            <a:r>
              <a:t>3  |  Tác vụ (Task)  |  T  |  Nhiệm vụ cụ thể cần hoàn thành</a:t>
            </a:r>
          </a:p>
          <a:p>
            <a:pPr>
              <a:defRPr sz="1400">
                <a:solidFill>
                  <a:srgbClr val="333333"/>
                </a:solidFill>
              </a:defRPr>
            </a:pPr>
            <a:r>
              <a:t>4  |  Định dạng (Format)  |  F  |  Cấu trúc output: bảng, bullet, đoạn văn</a:t>
            </a:r>
          </a:p>
          <a:p>
            <a:pPr>
              <a:defRPr sz="1400">
                <a:solidFill>
                  <a:srgbClr val="333333"/>
                </a:solidFill>
              </a:defRPr>
            </a:pPr>
            <a:r>
              <a:t>5  |  Ràng buộc (Constraints)  |  C  |  Giới hạn: độ dài, luật áp dụng, từ vựng</a:t>
            </a:r>
          </a:p>
          <a:p>
            <a:pPr>
              <a:defRPr sz="1400">
                <a:solidFill>
                  <a:srgbClr val="333333"/>
                </a:solidFill>
              </a:defRPr>
            </a:pPr>
            <a:r>
              <a:t>6  |  Đối tượng (Audience)  |  A  |  Ai sẽ đọc kết quả</a:t>
            </a:r>
          </a:p>
          <a:p>
            <a:pPr>
              <a:defRPr sz="1600" i="1">
                <a:solidFill>
                  <a:srgbClr val="2D5F9A"/>
                </a:solidFill>
              </a:defRPr>
            </a:pPr>
            <a:r>
              <a:t>""Không cần dùng hết 6 mỗi lần. Bắt đầu với 3 (RTF), thêm dần khi cần.""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Demo -- Prompt 6 thành phần cho hợp đồng</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Prompt mẫu:</a:t>
            </a:r>
          </a:p>
          <a:p>
            <a:pPr>
              <a:defRPr sz="1400">
                <a:solidFill>
                  <a:srgbClr val="333333"/>
                </a:solidFill>
                <a:latin typeface="Consolas"/>
              </a:defRPr>
            </a:pPr>
            <a:r>
              <a:t>Vai trò: Chuyên gia pháp lý hợp đồng dịch vụ tại Việt Nam.</a:t>
            </a:r>
          </a:p>
          <a:p>
            <a:pPr>
              <a:defRPr sz="1400">
                <a:solidFill>
                  <a:srgbClr val="333333"/>
                </a:solidFill>
                <a:latin typeface="Consolas"/>
              </a:defRPr>
            </a:pPr>
            <a:r>
              <a:t>Giọng điệu: Chuyên nghiệp, rõ ràng, ngắn gọn.</a:t>
            </a:r>
          </a:p>
          <a:p>
            <a:pPr>
              <a:defRPr sz="1400">
                <a:solidFill>
                  <a:srgbClr val="333333"/>
                </a:solidFill>
                <a:latin typeface="Consolas"/>
              </a:defRPr>
            </a:pPr>
            <a:r>
              <a:t>Tác vụ: Dựa trên thông tin đơn đặt hàng, viết phần "Mô tả dịch vụ"</a:t>
            </a:r>
          </a:p>
          <a:p>
            <a:pPr>
              <a:defRPr sz="1400">
                <a:solidFill>
                  <a:srgbClr val="333333"/>
                </a:solidFill>
                <a:latin typeface="Consolas"/>
              </a:defRPr>
            </a:pPr>
            <a:r>
              <a:t>cho hợp đồng (giá, VAT, thời gian thực hiện).</a:t>
            </a:r>
          </a:p>
          <a:p>
            <a:pPr>
              <a:defRPr sz="1400">
                <a:solidFill>
                  <a:srgbClr val="333333"/>
                </a:solidFill>
                <a:latin typeface="Consolas"/>
              </a:defRPr>
            </a:pPr>
            <a:r>
              <a:t>Định dạng: 3-4 câu văn phong pháp lý, đánh số điều khoản.</a:t>
            </a:r>
          </a:p>
          <a:p>
            <a:pPr>
              <a:defRPr sz="1400">
                <a:solidFill>
                  <a:srgbClr val="333333"/>
                </a:solidFill>
                <a:latin typeface="Consolas"/>
              </a:defRPr>
            </a:pPr>
            <a:r>
              <a:t>Ràng buộc: Theo luật hợp đồng Việt Nam, dưới 200 từ.</a:t>
            </a:r>
          </a:p>
          <a:p>
            <a:pPr>
              <a:defRPr sz="1400">
                <a:solidFill>
                  <a:srgbClr val="333333"/>
                </a:solidFill>
                <a:latin typeface="Consolas"/>
              </a:defRPr>
            </a:pPr>
            <a:r>
              <a:t>Đối tượng: Giám đốc hai bên sẽ ký hợp đồng.</a:t>
            </a:r>
          </a:p>
          <a:p>
            <a:pPr>
              <a:defRPr sz="1400">
                <a:solidFill>
                  <a:srgbClr val="333333"/>
                </a:solidFill>
                <a:latin typeface="Consolas"/>
              </a:defRPr>
            </a:pPr>
          </a:p>
          <a:p>
            <a:pPr>
              <a:defRPr sz="1400">
                <a:solidFill>
                  <a:srgbClr val="333333"/>
                </a:solidFill>
                <a:latin typeface="Consolas"/>
              </a:defRPr>
            </a:pPr>
            <a:r>
              <a:t>[Paste thông tin đơn hàng Google Vietnam]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Hướng dẫn thực hành -- Đăng nhập Claude.ai</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Bước thực hiện:</a:t>
            </a:r>
          </a:p>
          <a:p>
            <a:pPr>
              <a:spcBef>
                <a:spcPts val="300"/>
              </a:spcBef>
              <a:defRPr sz="1600">
                <a:solidFill>
                  <a:srgbClr val="333333"/>
                </a:solidFill>
              </a:defRPr>
            </a:pPr>
            <a:r>
              <a:t>Mở trình duyệt -&gt; claude.ai</a:t>
            </a:r>
          </a:p>
          <a:p>
            <a:pPr>
              <a:spcBef>
                <a:spcPts val="300"/>
              </a:spcBef>
              <a:defRPr sz="1600">
                <a:solidFill>
                  <a:srgbClr val="333333"/>
                </a:solidFill>
              </a:defRPr>
            </a:pPr>
            <a:r>
              <a:t>Đăng nhập (hoặc tạo tài khoản mới)</a:t>
            </a:r>
          </a:p>
          <a:p>
            <a:pPr>
              <a:spcBef>
                <a:spcPts val="300"/>
              </a:spcBef>
              <a:defRPr sz="1600">
                <a:solidFill>
                  <a:srgbClr val="333333"/>
                </a:solidFill>
              </a:defRPr>
            </a:pPr>
            <a:r>
              <a:t>Bấm "New conversation"</a:t>
            </a:r>
          </a:p>
          <a:p>
            <a:pPr>
              <a:spcBef>
                <a:spcPts val="300"/>
              </a:spcBef>
              <a:defRPr sz="1600">
                <a:solidFill>
                  <a:srgbClr val="333333"/>
                </a:solidFill>
              </a:defRPr>
            </a:pPr>
            <a:r>
              <a:t>Paste thông tin đơn hàng mẫu (có trong handout)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Bài tập 1 -- Prompt cho kịch bản hợp đồng (13 phút)</a:t>
            </a:r>
          </a:p>
        </p:txBody>
      </p:sp>
      <p:sp>
        <p:nvSpPr>
          <p:cNvPr id="4" name="TextBox 3"/>
          <p:cNvSpPr txBox="1"/>
          <p:nvPr/>
        </p:nvSpPr>
        <p:spPr>
          <a:xfrm>
            <a:off x="548640" y="1188720"/>
            <a:ext cx="10972800" cy="4754880"/>
          </a:xfrm>
          <a:prstGeom prst="rect">
            <a:avLst/>
          </a:prstGeom>
          <a:noFill/>
        </p:spPr>
        <p:txBody>
          <a:bodyPr wrap="square"/>
          <a:lstStyle/>
          <a:p>
            <a:pPr>
              <a:spcBef>
                <a:spcPts val="600"/>
              </a:spcBef>
            </a:pPr>
            <a:r>
              <a:rPr sz="1600" b="1">
                <a:solidFill>
                  <a:srgbClr val="2D5F9A"/>
                </a:solidFill>
              </a:rPr>
              <a:t>Nhiệm vụ A (4 phút): </a:t>
            </a:r>
            <a:r>
              <a:rPr sz="1600">
                <a:solidFill>
                  <a:srgbClr val="333333"/>
                </a:solidFill>
              </a:rPr>
              <a:t>Viết prompt RTF</a:t>
            </a:r>
          </a:p>
          <a:p>
            <a:pPr>
              <a:spcBef>
                <a:spcPts val="300"/>
              </a:spcBef>
              <a:defRPr sz="1600">
                <a:solidFill>
                  <a:srgbClr val="333333"/>
                </a:solidFill>
              </a:defRPr>
            </a:pPr>
            <a:r>
              <a:t>•  Trích xuất 5 điểm chính cho hợp đồng từ đơn hàng mẫu</a:t>
            </a:r>
          </a:p>
          <a:p>
            <a:pPr>
              <a:spcBef>
                <a:spcPts val="300"/>
              </a:spcBef>
              <a:defRPr sz="1600">
                <a:solidFill>
                  <a:srgbClr val="333333"/>
                </a:solidFill>
              </a:defRPr>
            </a:pPr>
            <a:r>
              <a:t>•  Chạy trên Claude.ai</a:t>
            </a:r>
          </a:p>
          <a:p>
            <a:pPr>
              <a:spcBef>
                <a:spcPts val="600"/>
              </a:spcBef>
            </a:pPr>
            <a:r>
              <a:rPr sz="1600" b="1">
                <a:solidFill>
                  <a:srgbClr val="2D5F9A"/>
                </a:solidFill>
              </a:rPr>
              <a:t>Nhiệm vụ B (5 phút): </a:t>
            </a:r>
            <a:r>
              <a:rPr sz="1600">
                <a:solidFill>
                  <a:srgbClr val="333333"/>
                </a:solidFill>
              </a:rPr>
              <a:t>Viết prompt 6 thành phần</a:t>
            </a:r>
          </a:p>
          <a:p>
            <a:pPr>
              <a:spcBef>
                <a:spcPts val="300"/>
              </a:spcBef>
              <a:defRPr sz="1600">
                <a:solidFill>
                  <a:srgbClr val="333333"/>
                </a:solidFill>
              </a:defRPr>
            </a:pPr>
            <a:r>
              <a:t>•  Tạo phần "Mô tả dịch vụ" cho hợp đồng</a:t>
            </a:r>
          </a:p>
          <a:p>
            <a:pPr>
              <a:spcBef>
                <a:spcPts val="300"/>
              </a:spcBef>
              <a:defRPr sz="1600">
                <a:solidFill>
                  <a:srgbClr val="333333"/>
                </a:solidFill>
              </a:defRPr>
            </a:pPr>
            <a:r>
              <a:t>•  Thêm: giọng điệu + ràng buộc + đối tượng</a:t>
            </a:r>
          </a:p>
          <a:p>
            <a:pPr>
              <a:spcBef>
                <a:spcPts val="300"/>
              </a:spcBef>
              <a:defRPr sz="1600">
                <a:solidFill>
                  <a:srgbClr val="333333"/>
                </a:solidFill>
              </a:defRPr>
            </a:pPr>
            <a:r>
              <a:t>•  Chạy trên Claude.ai</a:t>
            </a:r>
          </a:p>
          <a:p>
            <a:pPr>
              <a:spcBef>
                <a:spcPts val="600"/>
              </a:spcBef>
            </a:pPr>
            <a:r>
              <a:rPr sz="1600" b="1">
                <a:solidFill>
                  <a:srgbClr val="2D5F9A"/>
                </a:solidFill>
              </a:rPr>
              <a:t>So sánh (2 phút): </a:t>
            </a:r>
            <a:r>
              <a:rPr sz="1600">
                <a:solidFill>
                  <a:srgbClr val="333333"/>
                </a:solidFill>
              </a:rPr>
              <a:t>Kết quả A vs. B -- cái nào đầy đủ hơn?</a:t>
            </a:r>
          </a:p>
          <a:p>
            <a:pPr>
              <a:defRPr sz="1600" i="1">
                <a:solidFill>
                  <a:srgbClr val="2D5F9A"/>
                </a:solidFill>
              </a:defRPr>
            </a:pPr>
            <a:r>
              <a:t>"Dùng đơn hàng mẫu trong handout. Nếu xong sớm -&gt; thử với tác vụ công việc cá nhân."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Bài tập 2 -- Few-shot + Chain-of-thought (8 phút)</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Few-shot (Cho ví dụ mẫu):</a:t>
            </a:r>
          </a:p>
          <a:p>
            <a:pPr>
              <a:spcBef>
                <a:spcPts val="300"/>
              </a:spcBef>
              <a:defRPr sz="1600">
                <a:solidFill>
                  <a:srgbClr val="333333"/>
                </a:solidFill>
              </a:defRPr>
            </a:pPr>
            <a:r>
              <a:t>•  Mở lại prompt Nhiệm vụ B</a:t>
            </a:r>
          </a:p>
          <a:p>
            <a:pPr>
              <a:spcBef>
                <a:spcPts val="300"/>
              </a:spcBef>
              <a:defRPr sz="1600">
                <a:solidFill>
                  <a:srgbClr val="333333"/>
                </a:solidFill>
              </a:defRPr>
            </a:pPr>
            <a:r>
              <a:t>•  Thêm 2 ví dụ mẫu cách trình bày mô tả dịch vụ trong hợp đồng</a:t>
            </a:r>
          </a:p>
          <a:p>
            <a:pPr>
              <a:spcBef>
                <a:spcPts val="800"/>
              </a:spcBef>
              <a:defRPr sz="1600" b="1">
                <a:solidFill>
                  <a:srgbClr val="2D5F9A"/>
                </a:solidFill>
              </a:defRPr>
            </a:pPr>
            <a:r>
              <a:t>Chain-of-thought (Yêu cầu giải thích):</a:t>
            </a:r>
          </a:p>
          <a:p>
            <a:pPr>
              <a:spcBef>
                <a:spcPts val="300"/>
              </a:spcBef>
              <a:defRPr sz="1600">
                <a:solidFill>
                  <a:srgbClr val="333333"/>
                </a:solidFill>
              </a:defRPr>
            </a:pPr>
            <a:r>
              <a:t>•  Thêm dòng: "Hãy giải thích lý do mỗi quyết định định dạng"</a:t>
            </a:r>
          </a:p>
          <a:p>
            <a:pPr>
              <a:spcBef>
                <a:spcPts val="300"/>
              </a:spcBef>
              <a:defRPr sz="1600">
                <a:solidFill>
                  <a:srgbClr val="333333"/>
                </a:solidFill>
              </a:defRPr>
            </a:pPr>
            <a:r>
              <a:t>•  Chạy lại -&gt; So sánh trước/sau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Poll #4 -- Đánh giá few-shot</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ZOOM POLL:</a:t>
            </a:r>
          </a:p>
          <a:p>
            <a:pPr>
              <a:defRPr sz="1600">
                <a:solidFill>
                  <a:srgbClr val="333333"/>
                </a:solidFill>
              </a:defRPr>
            </a:pPr>
            <a:r>
              <a:t>"Few-shot có cải thiện kết quả không?"</a:t>
            </a:r>
          </a:p>
          <a:p>
            <a:pPr>
              <a:spcBef>
                <a:spcPts val="300"/>
              </a:spcBef>
              <a:defRPr sz="1600">
                <a:solidFill>
                  <a:srgbClr val="333333"/>
                </a:solidFill>
              </a:defRPr>
            </a:pPr>
            <a:r>
              <a:t>•  A. Có, rõ rệt</a:t>
            </a:r>
          </a:p>
          <a:p>
            <a:pPr>
              <a:spcBef>
                <a:spcPts val="300"/>
              </a:spcBef>
              <a:defRPr sz="1600">
                <a:solidFill>
                  <a:srgbClr val="333333"/>
                </a:solidFill>
              </a:defRPr>
            </a:pPr>
            <a:r>
              <a:t>•  B. Có, chút</a:t>
            </a:r>
          </a:p>
          <a:p>
            <a:pPr>
              <a:spcBef>
                <a:spcPts val="300"/>
              </a:spcBef>
              <a:defRPr sz="1600">
                <a:solidFill>
                  <a:srgbClr val="333333"/>
                </a:solidFill>
              </a:defRPr>
            </a:pPr>
            <a:r>
              <a:t>•  C. Không đổi</a:t>
            </a:r>
          </a:p>
          <a:p>
            <a:pPr>
              <a:spcBef>
                <a:spcPts val="300"/>
              </a:spcBef>
              <a:defRPr sz="1600">
                <a:solidFill>
                  <a:srgbClr val="333333"/>
                </a:solidFill>
              </a:defRPr>
            </a:pPr>
            <a:r>
              <a:t>•  D. Khó so sánh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Bài tập 3 -- Tác vụ công việc thực tế (15 phút)</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Chuyển từ kịch bản hợp đồng sang công việc CỦA BẠN:</a:t>
            </a:r>
          </a:p>
          <a:p>
            <a:pPr>
              <a:spcBef>
                <a:spcPts val="300"/>
              </a:spcBef>
              <a:defRPr sz="1600">
                <a:solidFill>
                  <a:srgbClr val="333333"/>
                </a:solidFill>
              </a:defRPr>
            </a:pPr>
            <a:r>
              <a:t>Chọn 1 việc phải làm trong tuần này</a:t>
            </a:r>
          </a:p>
          <a:p>
            <a:pPr>
              <a:spcBef>
                <a:spcPts val="300"/>
              </a:spcBef>
              <a:defRPr sz="1600">
                <a:solidFill>
                  <a:srgbClr val="333333"/>
                </a:solidFill>
              </a:defRPr>
            </a:pPr>
            <a:r>
              <a:t>Viết prompt 6 thành phần</a:t>
            </a:r>
          </a:p>
          <a:p>
            <a:pPr>
              <a:spcBef>
                <a:spcPts val="300"/>
              </a:spcBef>
              <a:defRPr sz="1600">
                <a:solidFill>
                  <a:srgbClr val="333333"/>
                </a:solidFill>
              </a:defRPr>
            </a:pPr>
            <a:r>
              <a:t>Chạy trên Claude.ai</a:t>
            </a:r>
          </a:p>
          <a:p>
            <a:pPr>
              <a:spcBef>
                <a:spcPts val="300"/>
              </a:spcBef>
              <a:defRPr sz="1600">
                <a:solidFill>
                  <a:srgbClr val="333333"/>
                </a:solidFill>
              </a:defRPr>
            </a:pPr>
            <a:r>
              <a:t>Đánh giá theo 3 tiêu chí:</a:t>
            </a:r>
          </a:p>
          <a:p>
            <a:pPr lvl="1">
              <a:spcBef>
                <a:spcPts val="300"/>
              </a:spcBef>
              <a:defRPr sz="1600">
                <a:solidFill>
                  <a:srgbClr val="333333"/>
                </a:solidFill>
              </a:defRPr>
            </a:pPr>
            <a:r>
              <a:t>•  Đúng nội dung?</a:t>
            </a:r>
          </a:p>
          <a:p>
            <a:pPr lvl="1">
              <a:spcBef>
                <a:spcPts val="300"/>
              </a:spcBef>
              <a:defRPr sz="1600">
                <a:solidFill>
                  <a:srgbClr val="333333"/>
                </a:solidFill>
              </a:defRPr>
            </a:pPr>
            <a:r>
              <a:t>•  Đúng định dạng?</a:t>
            </a:r>
          </a:p>
          <a:p>
            <a:pPr lvl="1">
              <a:spcBef>
                <a:spcPts val="300"/>
              </a:spcBef>
              <a:defRPr sz="1600">
                <a:solidFill>
                  <a:srgbClr val="333333"/>
                </a:solidFill>
              </a:defRPr>
            </a:pPr>
            <a:r>
              <a:t>•  Dùng được ngay không cần sửa lớn?</a:t>
            </a:r>
          </a:p>
          <a:p>
            <a:pPr>
              <a:spcBef>
                <a:spcPts val="600"/>
              </a:spcBef>
            </a:pPr>
            <a:r>
              <a:rPr sz="1600" b="1">
                <a:solidFill>
                  <a:srgbClr val="2D5F9A"/>
                </a:solidFill>
              </a:rPr>
              <a:t>Sau đó: </a:t>
            </a:r>
            <a:r>
              <a:rPr sz="1600">
                <a:solidFill>
                  <a:srgbClr val="333333"/>
                </a:solidFill>
              </a:rPr>
              <a:t>3 người tình nguyện chia sẻ màn hình (3 phút mỗi người)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3 Takeaway hôm nay</a:t>
            </a:r>
          </a:p>
        </p:txBody>
      </p:sp>
      <p:sp>
        <p:nvSpPr>
          <p:cNvPr id="4" name="TextBox 3"/>
          <p:cNvSpPr txBox="1"/>
          <p:nvPr/>
        </p:nvSpPr>
        <p:spPr>
          <a:xfrm>
            <a:off x="548640" y="1188720"/>
            <a:ext cx="10972800" cy="4754880"/>
          </a:xfrm>
          <a:prstGeom prst="rect">
            <a:avLst/>
          </a:prstGeom>
          <a:noFill/>
        </p:spPr>
        <p:txBody>
          <a:bodyPr wrap="square"/>
          <a:lstStyle/>
          <a:p>
            <a:pPr>
              <a:spcBef>
                <a:spcPts val="300"/>
              </a:spcBef>
              <a:defRPr sz="1600">
                <a:solidFill>
                  <a:srgbClr val="333333"/>
                </a:solidFill>
              </a:defRPr>
            </a:pPr>
            <a:r>
              <a:t>AI dự đoán từ -- đừng tin mù quáng, luôn kiểm chứng</a:t>
            </a:r>
          </a:p>
          <a:p>
            <a:pPr>
              <a:spcBef>
                <a:spcPts val="300"/>
              </a:spcBef>
              <a:defRPr sz="1600">
                <a:solidFill>
                  <a:srgbClr val="333333"/>
                </a:solidFill>
              </a:defRPr>
            </a:pPr>
            <a:r>
              <a:t>Prompt tốt = cụ thể + có cấu trúc -- 6 thành phần là bộ công cụ</a:t>
            </a:r>
          </a:p>
          <a:p>
            <a:pPr>
              <a:spcBef>
                <a:spcPts val="300"/>
              </a:spcBef>
              <a:defRPr sz="1600">
                <a:solidFill>
                  <a:srgbClr val="333333"/>
                </a:solidFill>
              </a:defRPr>
            </a:pPr>
            <a:r>
              <a:t>Thực hành quan trọng hơn lý thuyết -- bạn vừa hoàn thành ít nhất 3 prompt thật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2D5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822960"/>
          </a:xfrm>
          <a:prstGeom prst="rect">
            <a:avLst/>
          </a:prstGeom>
          <a:noFill/>
        </p:spPr>
        <p:txBody>
          <a:bodyPr wrap="square">
            <a:spAutoFit/>
          </a:bodyPr>
          <a:lstStyle/>
          <a:p>
            <a:pPr>
              <a:defRPr sz="2800" b="1">
                <a:solidFill>
                  <a:srgbClr val="1A1A2E"/>
                </a:solidFill>
              </a:defRPr>
            </a:pPr>
            <a:r>
              <a:t>Bài tập về nhà (20--25 phút)</a:t>
            </a:r>
          </a:p>
        </p:txBody>
      </p:sp>
      <p:sp>
        <p:nvSpPr>
          <p:cNvPr id="4" name="TextBox 3"/>
          <p:cNvSpPr txBox="1"/>
          <p:nvPr/>
        </p:nvSpPr>
        <p:spPr>
          <a:xfrm>
            <a:off x="548640" y="1188720"/>
            <a:ext cx="10972800" cy="4754880"/>
          </a:xfrm>
          <a:prstGeom prst="rect">
            <a:avLst/>
          </a:prstGeom>
          <a:noFill/>
        </p:spPr>
        <p:txBody>
          <a:bodyPr wrap="square"/>
          <a:lstStyle/>
          <a:p>
            <a:pPr>
              <a:spcBef>
                <a:spcPts val="800"/>
              </a:spcBef>
              <a:defRPr sz="1600" b="1">
                <a:solidFill>
                  <a:srgbClr val="2D5F9A"/>
                </a:solidFill>
              </a:defRPr>
            </a:pPr>
            <a:r>
              <a:t>Tạo "Prompt Library" cá nhân:</a:t>
            </a:r>
          </a:p>
          <a:p>
            <a:pPr>
              <a:spcBef>
                <a:spcPts val="300"/>
              </a:spcBef>
              <a:defRPr sz="1600">
                <a:solidFill>
                  <a:srgbClr val="333333"/>
                </a:solidFill>
              </a:defRPr>
            </a:pPr>
            <a:r>
              <a:t>•  5 prompt cho 5 tác vụ thường xuyên của bạn</a:t>
            </a:r>
          </a:p>
          <a:p>
            <a:pPr>
              <a:spcBef>
                <a:spcPts val="300"/>
              </a:spcBef>
              <a:defRPr sz="1600">
                <a:solidFill>
                  <a:srgbClr val="333333"/>
                </a:solidFill>
              </a:defRPr>
            </a:pPr>
            <a:r>
              <a:t>•  Mỗi prompt dùng ít nhất 4/6 thành phần</a:t>
            </a:r>
          </a:p>
          <a:p>
            <a:pPr>
              <a:spcBef>
                <a:spcPts val="300"/>
              </a:spcBef>
              <a:defRPr sz="1600">
                <a:solidFill>
                  <a:srgbClr val="333333"/>
                </a:solidFill>
              </a:defRPr>
            </a:pPr>
            <a:r>
              <a:t>•  1 trong 5 prompt phải liên quan đến xử lý tài liệu (như kịch bản hợp đồng)</a:t>
            </a:r>
          </a:p>
          <a:p>
            <a:pPr>
              <a:spcBef>
                <a:spcPts val="300"/>
              </a:spcBef>
              <a:defRPr sz="1600">
                <a:solidFill>
                  <a:srgbClr val="333333"/>
                </a:solidFill>
              </a:defRPr>
            </a:pPr>
            <a:r>
              <a:t>•  Lưu vào file/ghi chú -&gt; Mang đến Buổi 2</a:t>
            </a:r>
          </a:p>
          <a:p>
            <a:pPr>
              <a:spcBef>
                <a:spcPts val="800"/>
              </a:spcBef>
              <a:defRPr sz="1600" b="1">
                <a:solidFill>
                  <a:srgbClr val="2D5F9A"/>
                </a:solidFill>
              </a:defRPr>
            </a:pPr>
            <a:r>
              <a:t>Preview Buổi 2:</a:t>
            </a:r>
          </a:p>
          <a:p>
            <a:pPr>
              <a:defRPr sz="1600" i="1">
                <a:solidFill>
                  <a:srgbClr val="2D5F9A"/>
                </a:solidFill>
              </a:defRPr>
            </a:pPr>
            <a:r>
              <a:t>""Cùng tác vụ hợp đồng đó -- chat mất 5 tin nhắn, agent làm trong 1 brief. Hôm sau bạn sẽ thấy tại sao.""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