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Dùng slide visual timeline. Nhấn mạnh sự tiến bộ: "Buổi 1 bạn viết 1 prompt. Hôm nay bạn xây cả 1 hệ thống." 5 phút.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Nếu nhiều D -&gt; dành thêm thời gian workshop. Nếu đa số B/C -&gt; tập trung vào test &amp; iterate.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 sánh song song: contract-agent SKILL.md vs. template trống trên màn hình. 10 phút.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Dùng SKILL.md mẫu đã chuẩn bị sẵn. Cho lớp thấy AI đọc SKILL.md như đọc hướng dẫn công việc.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nhanh với ví dụ "soạn báo cáo phân tích đối thủ." 7 phút.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"Không phải tất cả bước đều AI được. Bước 4 -- quyết định chiến lược -- luôn là BẠN."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Cho ví dụ cụ thể mỗi lỗi. Hỏi: "SKILL.md bản nháp của bạn mắc lỗi nào?"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Phát rubric (có trong handout). Giải thích: mỗi bài trình bày sẽ có 2 người phản hồi theo rubric này.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Đi "vòng quanh" qua chat. Nếu ai bí -&gt; gợi ý dựa trên nghề nghiệp. Manager: skill lập kế hoạch. Marketer: skill phân tích đối thủ. Teacher: skill tạo đề thi.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Nhóm D giúp nhóm A nếu có thể. Điều chỉnh thời gian: nếu đa số A -&gt; thêm 5 phút workshop, rút ngắn số bài trình bày.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Khuyến khích sửa cụ thể: thêm ví dụ, sửa bước, thêm ràng buộc.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Chọn 2--3 câu thú vị, hỏi thêm. Tạo hứng thú cho phần trình bày sắp tới. 5 phút.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Giữ nghiêm 3 phút. Dùng timer trên Zoom. Phản hồi 1 phút/người: "Điểm tốt + 1 gợi ý cải thiện." 25 phút cho toàn bộ phần trình bày.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Chuẩn bị poll với tên người trình bày. Công bố kết quả + khen cụ thể tại sao skill đó hữu ích/sáng tạo. 5 phút.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Đọc chậm, 1 câu mỗi lần. Để lớp thấm.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Chia sẻ link tài liệu bổ sung nếu có. 3 phút.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Đọc kết quả. So sánh với Buổi 1 (nếu có baseline). "Từ mức X lên mức Y -- đó là tiến bộ thực sự." Cảm ơn + kết thúc.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Buổi 5: Xây dựng Skill của riêng bạn (Capstone)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Recap toàn khóa -- Hành trình 5 buổi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754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800"/>
              </a:spcBef>
              <a:defRPr sz="1600" b="1">
                <a:solidFill>
                  <a:srgbClr val="2D5F9A"/>
                </a:solidFill>
              </a:defRPr>
            </a:pPr>
            <a:r>
              <a:t>Timeline:</a:t>
            </a:r>
          </a:p>
          <a:p>
            <a:pPr>
              <a:defRPr sz="1400">
                <a:solidFill>
                  <a:srgbClr val="333333"/>
                </a:solidFill>
                <a:latin typeface="Consolas"/>
              </a:defRPr>
            </a:pPr>
            <a:r>
              <a:t>Buổi 1          Buổi 2          Buổi 3          Buổi 4          Buổi 5</a:t>
            </a:r>
          </a:p>
          <a:p>
            <a:pPr>
              <a:defRPr sz="1400">
                <a:solidFill>
                  <a:srgbClr val="333333"/>
                </a:solidFill>
                <a:latin typeface="Consolas"/>
              </a:defRPr>
            </a:pPr>
            <a:r>
              <a:t>Prompt          Agent           Automation       Context         YOUR SKILL</a:t>
            </a:r>
          </a:p>
          <a:p>
            <a:pPr>
              <a:defRPr sz="1400">
                <a:solidFill>
                  <a:srgbClr val="333333"/>
                </a:solidFill>
                <a:latin typeface="Consolas"/>
              </a:defRPr>
            </a:pPr>
            <a:r>
              <a:t>Mastery         Thinking        Thực tế          Engineering     (Capstone)</a:t>
            </a:r>
          </a:p>
          <a:p>
            <a:pPr>
              <a:defRPr sz="1400">
                <a:solidFill>
                  <a:srgbClr val="333333"/>
                </a:solidFill>
                <a:latin typeface="Consolas"/>
              </a:defRPr>
            </a:pPr>
            <a:r>
              <a:t>  |               |               |               |               |</a:t>
            </a:r>
          </a:p>
          <a:p>
            <a:pPr>
              <a:defRPr sz="1400">
                <a:solidFill>
                  <a:srgbClr val="333333"/>
                </a:solidFill>
                <a:latin typeface="Consolas"/>
              </a:defRPr>
            </a:pPr>
            <a:r>
              <a:t>Claude.ai    -&gt; Cowork       -&gt; Claude Code   -&gt; CLAUDE.md    -&gt; SKILL.md</a:t>
            </a:r>
          </a:p>
          <a:p>
            <a:pPr>
              <a:defRPr sz="1400">
                <a:solidFill>
                  <a:srgbClr val="333333"/>
                </a:solidFill>
                <a:latin typeface="Consolas"/>
              </a:defRPr>
            </a:pPr>
            <a:r>
              <a:t>                                                  + MCP</a:t>
            </a:r>
          </a:p>
          <a:p>
            <a:pPr>
              <a:defRPr sz="1600" i="1">
                <a:solidFill>
                  <a:srgbClr val="2D5F9A"/>
                </a:solidFill>
              </a:defRPr>
            </a:pPr>
            <a:r>
              <a:t>""5 buổi, 1 hành trình: từ viết prompt -&gt; thiết kế môi trường -&gt; xây skill riêng. Hôm nay bạn về nhà với 1 skill tự viết.""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Poll #1 -- Trạng thái SKILL.md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754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800"/>
              </a:spcBef>
              <a:defRPr sz="1600" b="1">
                <a:solidFill>
                  <a:srgbClr val="2D5F9A"/>
                </a:solidFill>
              </a:defRPr>
            </a:pPr>
            <a:r>
              <a:t>ZOOM POLL: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"SKILL.md bản nháp của bạn có bao nhiêu bước?"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A. 1--3 bước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B. 4--6 bước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C. 7--10 bước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D. Chưa có bản nháp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SKILL.md -- 6 phần cốt lõi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754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#  |  Phần  |  Câu hỏi chính  |  Ví dụ contract-agent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1  |  Mục tiêu  |  Skill này làm gì?  |  Tạo hợp đồng từ đơn đặt hàng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2  |  Ngữ cảnh  |  AI cần biết gì trước?  |  Luật hợp đồng VN, template công ty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3  |  Input  |  Nhận dữ liệu gì, từ đâu?  |  File prompt.md (thông tin khách hàng)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4  |  Các bước  |  Thứ tự thực hiện?  |  1. Đọc 2. Tính 3. Viết 4. Kiểm tra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5  |  Ví dụ  |  Output mong muốn trông thế nào?  |  [Mẫu hợp đồng hoàn chỉnh]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6  |  Ràng buộc  |  Không làm gì? Giới hạn gì?  |  Không bịa điều khoản, &lt;500 từ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Demo -- Chạy SKILL.md mẫu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754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800"/>
              </a:spcBef>
              <a:defRPr sz="1600" b="1">
                <a:solidFill>
                  <a:srgbClr val="2D5F9A"/>
                </a:solidFill>
              </a:defRPr>
            </a:pPr>
            <a:r>
              <a:t>Demo trên Claude Code:</a:t>
            </a:r>
          </a:p>
          <a:p>
            <a:pPr>
              <a:defRPr sz="1400">
                <a:solidFill>
                  <a:srgbClr val="333333"/>
                </a:solidFill>
                <a:latin typeface="Consolas"/>
              </a:defRPr>
            </a:pPr>
            <a:r>
              <a:t>&gt; claude "Chạy skill tạo hợp đồng với đơn hàng mới"</a:t>
            </a:r>
          </a:p>
          <a:p>
            <a:pPr>
              <a:spcBef>
                <a:spcPts val="800"/>
              </a:spcBef>
              <a:defRPr sz="1600" b="1">
                <a:solidFill>
                  <a:srgbClr val="2D5F9A"/>
                </a:solidFill>
              </a:defRPr>
            </a:pPr>
            <a:r>
              <a:t>AI thực hiện: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Đọc SKILL.md -&gt; hiểu mục tiêu và quy trình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Đọc input (đơn hàng mới)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Thực thi từng bước theo SKILL.md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Tạo output theo ví dụ mẫu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Kiểm tra theo ràng buộc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-&gt; Mở kết quả cho lớp xem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Workflow Decomposition -- 4 bước phân tích quy trình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754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800"/>
              </a:spcBef>
              <a:defRPr sz="1600" b="1">
                <a:solidFill>
                  <a:srgbClr val="2D5F9A"/>
                </a:solidFill>
              </a:defRPr>
            </a:pPr>
            <a:r>
              <a:t>Cách biến quy trình công việc thành SKILL.md: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2D5F9A"/>
                </a:solidFill>
              </a:rPr>
              <a:t>Bước 1: </a:t>
            </a:r>
            <a:r>
              <a:rPr sz="1600">
                <a:solidFill>
                  <a:srgbClr val="333333"/>
                </a:solidFill>
              </a:rPr>
              <a:t>Liệt kê TẤT CẢ các bước hiện tại (kể cả thủ công)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2D5F9A"/>
                </a:solidFill>
              </a:rPr>
              <a:t>Bước 2: </a:t>
            </a:r>
            <a:r>
              <a:rPr sz="1600">
                <a:solidFill>
                  <a:srgbClr val="333333"/>
                </a:solidFill>
              </a:rPr>
              <a:t>Xác định input/output cho mỗi bước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2D5F9A"/>
                </a:solidFill>
              </a:rPr>
              <a:t>Bước 3: </a:t>
            </a:r>
            <a:r>
              <a:rPr sz="1600">
                <a:solidFill>
                  <a:srgbClr val="333333"/>
                </a:solidFill>
              </a:rPr>
              <a:t>Đánh dấu bước AI làm được: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Xử lý văn bản, tổng hợp, định dạng, dịch thuật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2D5F9A"/>
                </a:solidFill>
              </a:rPr>
              <a:t>Bước 4: </a:t>
            </a:r>
            <a:r>
              <a:rPr sz="1600">
                <a:solidFill>
                  <a:srgbClr val="333333"/>
                </a:solidFill>
              </a:rPr>
              <a:t>Loại bỏ bước AI CHƯA làm được: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Phán quyết phức tạp, quan hệ người, quyết định chính sách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Ví dụ -- Phân tích "Báo cáo đối thủ"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754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Bước  |  Mô tả  |  AI?  |  Input -&gt; Output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1  |  Thu thập thông tin đối thủ  |  AI  |  URLs -&gt; dữ liệu thô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2  |  Tóm tắt điểm mạnh/yếu  |  AI  |  dữ liệu thô -&gt; bảng so sánh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3  |  Đề xuất chiến lược  |  AI + Người  |  bảng -&gt; 3 đề xuất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4  |  Quyết định chiến lược  |  Người  |  đề xuất -&gt; quyết định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5  |  Soạn báo cáo trình bày  |  AI  |  quyết định -&gt; slide/doc</a:t>
            </a:r>
          </a:p>
          <a:p>
            <a:pPr>
              <a:defRPr sz="1600" i="1">
                <a:solidFill>
                  <a:srgbClr val="2D5F9A"/>
                </a:solidFill>
              </a:defRPr>
            </a:pPr>
            <a:r>
              <a:t>"Bước 1-2-5: tự động hóa hoàn toàn. Bước 3: AI hỗ trợ. Bước 4: luôn là người."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3 lỗi thường gặp khi viết SKILL.md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754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Lỗi  |  Biểu hiện  |  Cách khắc phục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1. Quá chung chung  |  "Tạo báo cáo" (thiếu chi tiết)  |  Thêm ví dụ output cụ thể (few-shot)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2. Quá chi tiết  |  Micro-manage từng câu, AI không linh hoạt  |  Chỉ định KẾT QUẢ, không chỉ định CÁCH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3. Thiếu tiêu chí  |  AI không biết "đủ tốt" là gì  |  Thêm ràng buộc: độ dài, format, checklist</a:t>
            </a:r>
          </a:p>
          <a:p>
            <a:pPr>
              <a:defRPr sz="1600" i="1">
                <a:solidFill>
                  <a:srgbClr val="2D5F9A"/>
                </a:solidFill>
              </a:defRPr>
            </a:pPr>
            <a:r>
              <a:t>""Goldilocks zone: đủ rõ để AI hiểu, đủ linh hoạt để AI sáng tạo.""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Rubric trình bày -- 4 tiêu chí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754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Tiêu chí  |  Mô tả  |  Thang điểm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1. Vấn đề rõ ràng  |  Giải thích được: trước đây mất bao lâu, tác vụ gì  |  1--5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2. Skill chạy được  |  Demo trực tiếp không lỗi, AI thực thi đúng quy trình  |  1--5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3. Kết quả dùng được  |  Output có thể dùng ngay hoặc sửa nhỏ  |  1--5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4. Trình bày mạch lạc  |  3 phút, cấu trúc rõ, tự tin  |  1--5</a:t>
            </a:r>
          </a:p>
          <a:p>
            <a:pPr>
              <a:defRPr sz="1600" i="1">
                <a:solidFill>
                  <a:srgbClr val="2D5F9A"/>
                </a:solidFill>
              </a:defRPr>
            </a:pPr>
            <a:r>
              <a:t>""Đây là cơ sở để lớp phản hồi cho nhau -- không phải chấm điểm, mà là góp ý cải thiện.""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Workshop -- Hoàn thiện SKILL.md (15 phút)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754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800"/>
              </a:spcBef>
              <a:defRPr sz="1600" b="1">
                <a:solidFill>
                  <a:srgbClr val="2D5F9A"/>
                </a:solidFill>
              </a:defRPr>
            </a:pPr>
            <a:r>
              <a:t>Dựa trên bản nháp homework: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Kiểm tra đủ 6 phần (mục tiêu, ngữ cảnh, input, bước, ví dụ, ràng buộc)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Viết ít nhất 1 ví dụ output cụ thể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Thêm ràng buộc rõ ràng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Lưu file SKILL.md</a:t>
            </a:r>
          </a:p>
          <a:p>
            <a:pPr>
              <a:spcBef>
                <a:spcPts val="800"/>
              </a:spcBef>
              <a:defRPr sz="1600" b="1">
                <a:solidFill>
                  <a:srgbClr val="2D5F9A"/>
                </a:solidFill>
              </a:defRPr>
            </a:pPr>
            <a:r>
              <a:t>Facilitator hỗ trợ qua chat Zoom:</a:t>
            </a:r>
          </a:p>
          <a:p>
            <a:pPr>
              <a:defRPr sz="1600" i="1">
                <a:solidFill>
                  <a:srgbClr val="2D5F9A"/>
                </a:solidFill>
              </a:defRPr>
            </a:pPr>
            <a:r>
              <a:t>""Bạn đang viết skill gì? Gặp vướng mắc gì?""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Poll #2 -- Checkpoint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754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800"/>
              </a:spcBef>
              <a:defRPr sz="1600" b="1">
                <a:solidFill>
                  <a:srgbClr val="2D5F9A"/>
                </a:solidFill>
              </a:defRPr>
            </a:pPr>
            <a:r>
              <a:t>ZOOM POLL: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"Bạn đang ở giai đoạn nào?"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A. Đang viết SKILL.md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B. Đang test trên Claude Code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C. Đang sửa sau test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D. Xong, chuẩn bị trình bày!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Test &amp; Iterate (10 phút)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754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800"/>
              </a:spcBef>
              <a:defRPr sz="1600" b="1">
                <a:solidFill>
                  <a:srgbClr val="2D5F9A"/>
                </a:solidFill>
              </a:defRPr>
            </a:pPr>
            <a:r>
              <a:t>Chạy SKILL.md trên Claude Code: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Chạy skill với input thực tế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Đánh giá kết quả theo 3 tiêu chí rubric:</a:t>
            </a:r>
          </a:p>
          <a:p>
            <a:pPr lvl="1"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Chạy được không lỗi?</a:t>
            </a:r>
          </a:p>
          <a:p>
            <a:pPr lvl="1"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Kết quả dùng được?</a:t>
            </a:r>
          </a:p>
          <a:p>
            <a:pPr lvl="1"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Đúng quy trình?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Sửa ít nhất 1 vòng -- ghi lại: trước/sau sửa khác thế nào</a:t>
            </a:r>
          </a:p>
          <a:p>
            <a:pPr>
              <a:defRPr sz="1600" i="1">
                <a:solidFill>
                  <a:srgbClr val="2D5F9A"/>
                </a:solidFill>
              </a:defRPr>
            </a:pPr>
            <a:r>
              <a:t>""Iterate = cải thiện liên tục. SKILL.md tốt nhất không phải bản đầu tiên.""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Peer Preview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754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800"/>
              </a:spcBef>
              <a:defRPr sz="1600" b="1">
                <a:solidFill>
                  <a:srgbClr val="2D5F9A"/>
                </a:solidFill>
              </a:defRPr>
            </a:pPr>
            <a:r>
              <a:t>Gõ vào chat Zoom:</a:t>
            </a:r>
          </a:p>
          <a:p>
            <a:pPr>
              <a:defRPr sz="1600" i="1">
                <a:solidFill>
                  <a:srgbClr val="2D5F9A"/>
                </a:solidFill>
              </a:defRPr>
            </a:pPr>
            <a:r>
              <a:t>""Mô tả skill của bạn trong 1 câu: 'Skill này giúp [ai] làm [gì] tốt hơn bằng cách [cách nào].'""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Ví dụ: "Skill này giúp quản lý dự án soạn báo cáo tuần tốt hơn bằng cách tự động tổng hợp tiến độ từ file meeting notes."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Trình bày Skill -- Cấu trúc 3 phút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754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800"/>
              </a:spcBef>
              <a:defRPr sz="1600" b="1">
                <a:solidFill>
                  <a:srgbClr val="2D5F9A"/>
                </a:solidFill>
              </a:defRPr>
            </a:pPr>
            <a:r>
              <a:t>Cấu trúc cố định: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Thời gian  |  Nội dung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30 giây  |  Vấn đề: "Trước đây, tôi mất ___ phút để ___."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90 giây  |  Demo: Chạy skill trực tiếp trên màn hình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60 giây  |  Kết quả: "Skill tạo ra ___, tốt hơn thế này: ___."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2D5F9A"/>
                </a:solidFill>
              </a:rPr>
              <a:t>Sau mỗi bài: </a:t>
            </a:r>
            <a:r>
              <a:rPr sz="1600">
                <a:solidFill>
                  <a:srgbClr val="333333"/>
                </a:solidFill>
              </a:rPr>
              <a:t>2 người phản hồi theo rubric 4 tiêu chí</a:t>
            </a:r>
          </a:p>
          <a:p>
            <a:pPr>
              <a:defRPr sz="1600" i="1">
                <a:solidFill>
                  <a:srgbClr val="2D5F9A"/>
                </a:solidFill>
              </a:defRPr>
            </a:pPr>
            <a:r>
              <a:t>"Nếu &gt;10 người: 8 trình bày live, còn lại paste SKILL.md vào chat."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Vote -- Skill hay nhất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754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800"/>
              </a:spcBef>
              <a:defRPr sz="1600" b="1">
                <a:solidFill>
                  <a:srgbClr val="2D5F9A"/>
                </a:solidFill>
              </a:defRPr>
            </a:pPr>
            <a:r>
              <a:t>ZOOM POLL: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"Skill hữu ích nhất?"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[Tên người A]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[Tên người B]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...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"Skill sáng tạo nhất?"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[Tên người A]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[Tên người B]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...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5 Takeaway toàn khóa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754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#  |  Takeaway  |  Buổi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1  |  AI là máy dự đoán từ -- không phải thần thánh, luôn kiểm chứng  |  1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2  |  Prompt tốt = cụ thể + có cấu trúc (6 thành phần)  |  1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3  |  Agent &gt; Chat cho tác vụ lặp lại nhiều bước  |  2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4  |  Context engineering = dạy AI hiểu công việc của bạn 1 lần, dùng mãi  |  4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5  |  SKILL.md = tài sản tái sử dụng, không phải chat một lần bỏ  |  5</a:t>
            </a:r>
          </a:p>
          <a:p>
            <a:pPr>
              <a:defRPr sz="1600" i="1">
                <a:solidFill>
                  <a:srgbClr val="2D5F9A"/>
                </a:solidFill>
              </a:defRPr>
            </a:pPr>
            <a:r>
              <a:t>""5 câu này là tất cả những gì bạn cần nhớ.""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Tiếp theo -- Sau khóa học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754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800"/>
              </a:spcBef>
              <a:defRPr sz="1600" b="1">
                <a:solidFill>
                  <a:srgbClr val="2D5F9A"/>
                </a:solidFill>
              </a:defRPr>
            </a:pPr>
            <a:r>
              <a:t>Bạn đã có: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Prompt Library (5+ prompt)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CLAUDE.md cá nhân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SKILL.md hoàn chỉnh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Kinh nghiệm chạy Claude Code</a:t>
            </a:r>
          </a:p>
          <a:p>
            <a:pPr>
              <a:spcBef>
                <a:spcPts val="800"/>
              </a:spcBef>
              <a:defRPr sz="1600" b="1">
                <a:solidFill>
                  <a:srgbClr val="2D5F9A"/>
                </a:solidFill>
              </a:defRPr>
            </a:pPr>
            <a:r>
              <a:t>Tiếp theo: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Dùng skill đã tạo trong công việc tuần tới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Tinh chỉnh SKILL.md dựa trên kết quả thực tế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Thử tạo skill thứ 2 cho quy trình khác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Tham gia cộng đồng hỗ trợ (nếu có)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Poll cuối -- Tự tin sử dụng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754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800"/>
              </a:spcBef>
              <a:defRPr sz="1600" b="1">
                <a:solidFill>
                  <a:srgbClr val="2D5F9A"/>
                </a:solidFill>
              </a:defRPr>
            </a:pPr>
            <a:r>
              <a:t>ZOOM POLL: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"Sau khóa học, bạn tự tin dùng AI trong công việc ở mức nào?"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1 -- Chưa tự tin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2 -- Hơi tự tin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3 -- Tự tin vừa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4 -- Khá tự tin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5 -- Rất tự tin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