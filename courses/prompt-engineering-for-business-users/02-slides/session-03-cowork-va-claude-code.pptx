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Hỏi: "Tiết kiệm được bao nhiêu phút?" Con số cụ thể tạo động lực cho cả lớp. 5 phút.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Nếu &gt;40% chọn C/D -&gt; dành thêm 10 phút đầu Block B cho setup, rút ngắn bài tập 2. Chuẩn bị link hướng dẫn cài đặt trong chat.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Phóng to font terminal. Đọc chậm CLAUDE.md. Nhấn mạnh: "File này NÓI CHO AI biết phải làm gì -- giống bạn hướng dẫn nhân viên mới."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Chuẩn bị contract-agent đã test trước. Có video backup nếu live demo lỗi. Dành 12 phút cho toàn bộ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Mục tiêu: học viên nhận diện các phần chính của CLAUDE.md trước khi giảng viên giải thích chi tiết.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Dùng CLAUDE.md thật của contract-agent trên màn hình, highlight từng phần khi giải thích. 8 phút.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Không có đáp án sai. Thảo luận lý do. Thường C (Workflow) quan trọng nhất vì quyết định chất lượng output. 3 phút.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Chia sẻ màn hình, làm cùng lớp. Dành 13 phút cho setup. TA theo dõi chat để hỗ trợ lỗi.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Facilitator share link download qua chat Zoom. Dự phòng: có sẵn file zip trên Google Drive.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Ưu tiên hỗ trợ nhóm D. Nếu nhiều B -&gt; tốt, thảo luận "sửa nhỏ gì?" Nếu nhiều A -&gt; "Thấy sức mạnh của CLAUDE.md chưa?"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Bài tập nhanh, mục tiêu: học viên thấy agent đọc lại input và tạo output mới tự động.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Đưa template qua chat. Gợi ý: soạn báo cáo tuần, phân tích email khách hàng, tạo kế hoạch bài giảng.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 phút/người. Khen phần tốt, gợi ý 1 cải thiện cụ thể. Ví dụ: "Phần quy tắc cần thêm 'không bịa số liệu'."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0152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Buổi 3: Cowork + Claude Code -- Chạy Automation Thực tế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D5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1A2E"/>
                </a:solidFill>
              </a:defRPr>
            </a:pPr>
            <a:r>
              <a:t>Warm-up -- Homework Debrief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475488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Bef>
                <a:spcPts val="800"/>
              </a:spcBef>
              <a:defRPr sz="1600" b="1">
                <a:solidFill>
                  <a:srgbClr val="2D5F9A"/>
                </a:solidFill>
              </a:defRPr>
            </a:pPr>
            <a:r>
              <a:t>"Ai đã chạy 2 tác vụ trên Cowork rồi?"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-&gt; Zoom reactions (thumbs up)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1 người chia sẻ: brief + kết quả + thời gian tiết kiệm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D5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1A2E"/>
                </a:solidFill>
              </a:defRPr>
            </a:pPr>
            <a:r>
              <a:t>Poll #1 -- Trạng thái cài đặt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475488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Bef>
                <a:spcPts val="800"/>
              </a:spcBef>
              <a:defRPr sz="1600" b="1">
                <a:solidFill>
                  <a:srgbClr val="2D5F9A"/>
                </a:solidFill>
              </a:defRPr>
            </a:pPr>
            <a:r>
              <a:t>ZOOM POLL: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"Bạn đã cài Claude Code chưa?"</a:t>
            </a:r>
          </a:p>
          <a:p>
            <a:pPr>
              <a:spcBef>
                <a:spcPts val="300"/>
              </a:spcBef>
              <a:defRPr sz="1600">
                <a:solidFill>
                  <a:srgbClr val="333333"/>
                </a:solidFill>
              </a:defRPr>
            </a:pPr>
            <a:r>
              <a:t>•  A. Rồi và test được</a:t>
            </a:r>
          </a:p>
          <a:p>
            <a:pPr>
              <a:spcBef>
                <a:spcPts val="300"/>
              </a:spcBef>
              <a:defRPr sz="1600">
                <a:solidFill>
                  <a:srgbClr val="333333"/>
                </a:solidFill>
              </a:defRPr>
            </a:pPr>
            <a:r>
              <a:t>•  B. Rồi nhưng chưa test</a:t>
            </a:r>
          </a:p>
          <a:p>
            <a:pPr>
              <a:spcBef>
                <a:spcPts val="300"/>
              </a:spcBef>
              <a:defRPr sz="1600">
                <a:solidFill>
                  <a:srgbClr val="333333"/>
                </a:solidFill>
              </a:defRPr>
            </a:pPr>
            <a:r>
              <a:t>•  C. Chưa cài</a:t>
            </a:r>
          </a:p>
          <a:p>
            <a:pPr>
              <a:spcBef>
                <a:spcPts val="300"/>
              </a:spcBef>
              <a:defRPr sz="1600">
                <a:solidFill>
                  <a:srgbClr val="333333"/>
                </a:solidFill>
              </a:defRPr>
            </a:pPr>
            <a:r>
              <a:t>•  D. Không biết cài thế nào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D5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1A2E"/>
                </a:solidFill>
              </a:defRPr>
            </a:pPr>
            <a:r>
              <a:t>Demo -- Contract-agent hoạt động thế nào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475488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Bef>
                <a:spcPts val="800"/>
              </a:spcBef>
              <a:defRPr sz="1600" b="1">
                <a:solidFill>
                  <a:srgbClr val="2D5F9A"/>
                </a:solidFill>
              </a:defRPr>
            </a:pPr>
            <a:r>
              <a:t>Facilitator mở terminal:</a:t>
            </a:r>
          </a:p>
          <a:p>
            <a:pPr>
              <a:spcBef>
                <a:spcPts val="300"/>
              </a:spcBef>
              <a:defRPr sz="1600">
                <a:solidFill>
                  <a:srgbClr val="333333"/>
                </a:solidFill>
              </a:defRPr>
            </a:pPr>
            <a:r>
              <a:t>Mở thư mục contract-agent</a:t>
            </a:r>
          </a:p>
          <a:p>
            <a:pPr>
              <a:spcBef>
                <a:spcPts val="300"/>
              </a:spcBef>
              <a:defRPr sz="1600">
                <a:solidFill>
                  <a:srgbClr val="333333"/>
                </a:solidFill>
              </a:defRPr>
            </a:pPr>
            <a:r>
              <a:t>Mở file CLAUDE.md -&gt; đọc cho lớp thấy nội dung</a:t>
            </a:r>
          </a:p>
          <a:p>
            <a:pPr>
              <a:spcBef>
                <a:spcPts val="300"/>
              </a:spcBef>
              <a:defRPr sz="1600">
                <a:solidFill>
                  <a:srgbClr val="333333"/>
                </a:solidFill>
              </a:defRPr>
            </a:pPr>
            <a:r>
              <a:t>"Đây là file hướng dẫn AI -- giống sổ tay nhân viên"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D5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1A2E"/>
                </a:solidFill>
              </a:defRPr>
            </a:pPr>
            <a:r>
              <a:t>Demo -- Chạy contract-agent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475488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Bef>
                <a:spcPts val="800"/>
              </a:spcBef>
              <a:defRPr sz="1600" b="1">
                <a:solidFill>
                  <a:srgbClr val="2D5F9A"/>
                </a:solidFill>
              </a:defRPr>
            </a:pPr>
            <a:r>
              <a:t>Lệnh chạy:</a:t>
            </a:r>
          </a:p>
          <a:p>
            <a:pPr>
              <a:defRPr sz="1400">
                <a:solidFill>
                  <a:srgbClr val="333333"/>
                </a:solidFill>
                <a:latin typeface="Consolas"/>
              </a:defRPr>
            </a:pPr>
            <a:r>
              <a:t>claude "Đọc file prompt.md và tạo hợp đồng theo template"</a:t>
            </a:r>
          </a:p>
          <a:p>
            <a:pPr>
              <a:spcBef>
                <a:spcPts val="800"/>
              </a:spcBef>
              <a:defRPr sz="1600" b="1">
                <a:solidFill>
                  <a:srgbClr val="2D5F9A"/>
                </a:solidFill>
              </a:defRPr>
            </a:pPr>
            <a:r>
              <a:t>Kết quả:</a:t>
            </a:r>
          </a:p>
          <a:p>
            <a:pPr>
              <a:spcBef>
                <a:spcPts val="300"/>
              </a:spcBef>
              <a:defRPr sz="1600">
                <a:solidFill>
                  <a:srgbClr val="333333"/>
                </a:solidFill>
              </a:defRPr>
            </a:pPr>
            <a:r>
              <a:t>•  Claude Code đọc CLAUDE.md (tự động)</a:t>
            </a:r>
          </a:p>
          <a:p>
            <a:pPr>
              <a:spcBef>
                <a:spcPts val="300"/>
              </a:spcBef>
              <a:defRPr sz="1600">
                <a:solidFill>
                  <a:srgbClr val="333333"/>
                </a:solidFill>
              </a:defRPr>
            </a:pPr>
            <a:r>
              <a:t>•  Đọc file đơn hàng (prompt.md)</a:t>
            </a:r>
          </a:p>
          <a:p>
            <a:pPr>
              <a:spcBef>
                <a:spcPts val="300"/>
              </a:spcBef>
              <a:defRPr sz="1600">
                <a:solidFill>
                  <a:srgbClr val="333333"/>
                </a:solidFill>
              </a:defRPr>
            </a:pPr>
            <a:r>
              <a:t>•  Đọc template hợp đồng (.docx)</a:t>
            </a:r>
          </a:p>
          <a:p>
            <a:pPr>
              <a:spcBef>
                <a:spcPts val="300"/>
              </a:spcBef>
              <a:defRPr sz="1600">
                <a:solidFill>
                  <a:srgbClr val="333333"/>
                </a:solidFill>
              </a:defRPr>
            </a:pPr>
            <a:r>
              <a:t>•  Tạo file hợp đồng output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-&gt; Mở file output cho lớp xem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D5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1A2E"/>
                </a:solidFill>
              </a:defRPr>
            </a:pPr>
            <a:r>
              <a:t>Chat Activity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475488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Bef>
                <a:spcPts val="800"/>
              </a:spcBef>
              <a:defRPr sz="1600" b="1">
                <a:solidFill>
                  <a:srgbClr val="2D5F9A"/>
                </a:solidFill>
              </a:defRPr>
            </a:pPr>
            <a:r>
              <a:t>Gõ vào chat Zoom:</a:t>
            </a:r>
          </a:p>
          <a:p>
            <a:pPr>
              <a:defRPr sz="1600" i="1">
                <a:solidFill>
                  <a:srgbClr val="2D5F9A"/>
                </a:solidFill>
              </a:defRPr>
            </a:pPr>
            <a:r>
              <a:t>""Nhìn vào CLAUDE.md, bạn thấy AI được hướng dẫn làm những gì?""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(30 giây -- facilitator đọc 3--4 câu trả lời)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D5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1A2E"/>
                </a:solidFill>
              </a:defRPr>
            </a:pPr>
            <a:r>
              <a:t>CLAUDE.md -- Giải phẫu chi tiết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475488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Bef>
                <a:spcPts val="800"/>
              </a:spcBef>
              <a:defRPr sz="1600" b="1">
                <a:solidFill>
                  <a:srgbClr val="2D5F9A"/>
                </a:solidFill>
              </a:defRPr>
            </a:pPr>
            <a:r>
              <a:t>4 phần của CLAUDE.md: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Phần  |  Ý nghĩa  |  Ví dụ từ contract-agent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1. Vai trò  |  AI đóng vai gì  |  "Chuyên viên soạn hợp đồng dịch vụ"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2. Quy tắc  |  Phải làm gì / không làm gì  |  "Không nhập thông tin mật công ty"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3. Workflow  |  Các bước theo thứ tự  |  "1. Đọc đơn hàng 2. Áp dụng template 3. Tạo output"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4. Công cụ  |  File nào dùng, file nào tạo  |  "Input: prompt.md. Output: hop-dong.md"</a:t>
            </a:r>
          </a:p>
          <a:p>
            <a:pPr>
              <a:defRPr sz="1600" i="1">
                <a:solidFill>
                  <a:srgbClr val="2D5F9A"/>
                </a:solidFill>
              </a:defRPr>
            </a:pPr>
            <a:r>
              <a:t>""Đây chính xác là những gì bạn sẽ tự viết cho công việc mình.""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D5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1A2E"/>
                </a:solidFill>
              </a:defRPr>
            </a:pPr>
            <a:r>
              <a:t>Poll #2 -- Phần nào quan trọng nhất?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475488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Bef>
                <a:spcPts val="800"/>
              </a:spcBef>
              <a:defRPr sz="1600" b="1">
                <a:solidFill>
                  <a:srgbClr val="2D5F9A"/>
                </a:solidFill>
              </a:defRPr>
            </a:pPr>
            <a:r>
              <a:t>ZOOM POLL: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"Nếu viết CLAUDE.md cho công việc của bạn, phần nào quan trọng nhất?"</a:t>
            </a:r>
          </a:p>
          <a:p>
            <a:pPr>
              <a:spcBef>
                <a:spcPts val="300"/>
              </a:spcBef>
              <a:defRPr sz="1600">
                <a:solidFill>
                  <a:srgbClr val="333333"/>
                </a:solidFill>
              </a:defRPr>
            </a:pPr>
            <a:r>
              <a:t>•  A. Vai trò</a:t>
            </a:r>
          </a:p>
          <a:p>
            <a:pPr>
              <a:spcBef>
                <a:spcPts val="300"/>
              </a:spcBef>
              <a:defRPr sz="1600">
                <a:solidFill>
                  <a:srgbClr val="333333"/>
                </a:solidFill>
              </a:defRPr>
            </a:pPr>
            <a:r>
              <a:t>•  B. Quy tắc</a:t>
            </a:r>
          </a:p>
          <a:p>
            <a:pPr>
              <a:spcBef>
                <a:spcPts val="300"/>
              </a:spcBef>
              <a:defRPr sz="1600">
                <a:solidFill>
                  <a:srgbClr val="333333"/>
                </a:solidFill>
              </a:defRPr>
            </a:pPr>
            <a:r>
              <a:t>•  C. Workflow</a:t>
            </a:r>
          </a:p>
          <a:p>
            <a:pPr>
              <a:spcBef>
                <a:spcPts val="300"/>
              </a:spcBef>
              <a:defRPr sz="1600">
                <a:solidFill>
                  <a:srgbClr val="333333"/>
                </a:solidFill>
              </a:defRPr>
            </a:pPr>
            <a:r>
              <a:t>•  D. Công cụ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D5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1A2E"/>
                </a:solidFill>
              </a:defRPr>
            </a:pPr>
            <a:r>
              <a:t>Setup Claude Code -- Hướng dẫn từng bước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475488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Bef>
                <a:spcPts val="600"/>
              </a:spcBef>
            </a:pPr>
            <a:r>
              <a:rPr sz="1600" b="1">
                <a:solidFill>
                  <a:srgbClr val="2D5F9A"/>
                </a:solidFill>
              </a:rPr>
              <a:t>Bước 1: </a:t>
            </a:r>
            <a:r>
              <a:rPr sz="1600">
                <a:solidFill>
                  <a:srgbClr val="333333"/>
                </a:solidFill>
              </a:rPr>
              <a:t>Mở Terminal (Windows: PowerShell / Mac: Terminal)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2D5F9A"/>
                </a:solidFill>
              </a:rPr>
              <a:t>Bước 2: </a:t>
            </a:r>
            <a:r>
              <a:rPr sz="1600">
                <a:solidFill>
                  <a:srgbClr val="333333"/>
                </a:solidFill>
              </a:rPr>
              <a:t>Chạy lệnh: claude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2D5F9A"/>
                </a:solidFill>
              </a:rPr>
              <a:t>Bước 3: </a:t>
            </a:r>
            <a:r>
              <a:rPr sz="1600">
                <a:solidFill>
                  <a:srgbClr val="333333"/>
                </a:solidFill>
              </a:rPr>
              <a:t>Xác nhận hoạt động: hỏi Claude Code 1 câu đơn giản</a:t>
            </a:r>
          </a:p>
          <a:p>
            <a:pPr>
              <a:spcBef>
                <a:spcPts val="800"/>
              </a:spcBef>
              <a:defRPr sz="1600" b="1">
                <a:solidFill>
                  <a:srgbClr val="2D5F9A"/>
                </a:solidFill>
              </a:defRPr>
            </a:pPr>
            <a:r>
              <a:t>Nếu gặp lỗi:</a:t>
            </a:r>
          </a:p>
          <a:p>
            <a:pPr>
              <a:spcBef>
                <a:spcPts val="300"/>
              </a:spcBef>
              <a:defRPr sz="1600">
                <a:solidFill>
                  <a:srgbClr val="333333"/>
                </a:solidFill>
              </a:defRPr>
            </a:pPr>
            <a:r>
              <a:t>•  "command not found" -&gt; cần cài Node.js trước</a:t>
            </a:r>
          </a:p>
          <a:p>
            <a:pPr>
              <a:spcBef>
                <a:spcPts val="300"/>
              </a:spcBef>
              <a:defRPr sz="1600">
                <a:solidFill>
                  <a:srgbClr val="333333"/>
                </a:solidFill>
              </a:defRPr>
            </a:pPr>
            <a:r>
              <a:t>•  "authentication error" -&gt; đăng nhập lại</a:t>
            </a:r>
          </a:p>
          <a:p>
            <a:pPr>
              <a:spcBef>
                <a:spcPts val="300"/>
              </a:spcBef>
              <a:defRPr sz="1600">
                <a:solidFill>
                  <a:srgbClr val="333333"/>
                </a:solidFill>
              </a:defRPr>
            </a:pPr>
            <a:r>
              <a:t>•  Hỗ trợ qua chat Zoom hoặc TA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D5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1A2E"/>
                </a:solidFill>
              </a:defRPr>
            </a:pPr>
            <a:r>
              <a:t>Bài tập 1 -- Chạy contract-agent (12 phút)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475488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Bef>
                <a:spcPts val="800"/>
              </a:spcBef>
              <a:defRPr sz="1600" b="1">
                <a:solidFill>
                  <a:srgbClr val="2D5F9A"/>
                </a:solidFill>
              </a:defRPr>
            </a:pPr>
            <a:r>
              <a:t>Bước thực hiện:</a:t>
            </a:r>
          </a:p>
          <a:p>
            <a:pPr>
              <a:spcBef>
                <a:spcPts val="300"/>
              </a:spcBef>
              <a:defRPr sz="1600">
                <a:solidFill>
                  <a:srgbClr val="333333"/>
                </a:solidFill>
              </a:defRPr>
            </a:pPr>
            <a:r>
              <a:t>Download thư mục contract-agent (link trong chat)</a:t>
            </a:r>
          </a:p>
          <a:p>
            <a:pPr>
              <a:spcBef>
                <a:spcPts val="300"/>
              </a:spcBef>
              <a:defRPr sz="1600">
                <a:solidFill>
                  <a:srgbClr val="333333"/>
                </a:solidFill>
              </a:defRPr>
            </a:pPr>
            <a:r>
              <a:t>Mở terminal trong thư mục đó</a:t>
            </a:r>
          </a:p>
          <a:p>
            <a:pPr>
              <a:spcBef>
                <a:spcPts val="300"/>
              </a:spcBef>
              <a:defRPr sz="1600">
                <a:solidFill>
                  <a:srgbClr val="333333"/>
                </a:solidFill>
              </a:defRPr>
            </a:pPr>
            <a:r>
              <a:t>Chạy với file đơn hàng mẫu</a:t>
            </a:r>
          </a:p>
          <a:p>
            <a:pPr>
              <a:spcBef>
                <a:spcPts val="300"/>
              </a:spcBef>
              <a:defRPr sz="1600">
                <a:solidFill>
                  <a:srgbClr val="333333"/>
                </a:solidFill>
              </a:defRPr>
            </a:pPr>
            <a:r>
              <a:t>Đợi output</a:t>
            </a:r>
          </a:p>
          <a:p>
            <a:pPr>
              <a:spcBef>
                <a:spcPts val="300"/>
              </a:spcBef>
              <a:defRPr sz="1600">
                <a:solidFill>
                  <a:srgbClr val="333333"/>
                </a:solidFill>
              </a:defRPr>
            </a:pPr>
            <a:r>
              <a:t>Mở file hợp đồng kết quả</a:t>
            </a:r>
          </a:p>
          <a:p>
            <a:pPr>
              <a:spcBef>
                <a:spcPts val="800"/>
              </a:spcBef>
              <a:defRPr sz="1600" b="1">
                <a:solidFill>
                  <a:srgbClr val="2D5F9A"/>
                </a:solidFill>
              </a:defRPr>
            </a:pPr>
            <a:r>
              <a:t>Đánh giá theo 3 tiêu chí:</a:t>
            </a:r>
          </a:p>
          <a:p>
            <a:pPr>
              <a:spcBef>
                <a:spcPts val="300"/>
              </a:spcBef>
              <a:defRPr sz="1600">
                <a:solidFill>
                  <a:srgbClr val="333333"/>
                </a:solidFill>
              </a:defRPr>
            </a:pPr>
            <a:r>
              <a:t>•  Thông tin chính xác?</a:t>
            </a:r>
          </a:p>
          <a:p>
            <a:pPr>
              <a:spcBef>
                <a:spcPts val="300"/>
              </a:spcBef>
              <a:defRPr sz="1600">
                <a:solidFill>
                  <a:srgbClr val="333333"/>
                </a:solidFill>
              </a:defRPr>
            </a:pPr>
            <a:r>
              <a:t>•  Định dạng đúng mẫu template?</a:t>
            </a:r>
          </a:p>
          <a:p>
            <a:pPr>
              <a:spcBef>
                <a:spcPts val="300"/>
              </a:spcBef>
              <a:defRPr sz="1600">
                <a:solidFill>
                  <a:srgbClr val="333333"/>
                </a:solidFill>
              </a:defRPr>
            </a:pPr>
            <a:r>
              <a:t>•  Dùng được ngay không cần sửa lớn?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D5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1A2E"/>
                </a:solidFill>
              </a:defRPr>
            </a:pPr>
            <a:r>
              <a:t>Poll #3 -- Kết quả contract-agent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475488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Bef>
                <a:spcPts val="800"/>
              </a:spcBef>
              <a:defRPr sz="1600" b="1">
                <a:solidFill>
                  <a:srgbClr val="2D5F9A"/>
                </a:solidFill>
              </a:defRPr>
            </a:pPr>
            <a:r>
              <a:t>ZOOM POLL: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"Kết quả hợp đồng từ contract-agent đánh giá thế nào?"</a:t>
            </a:r>
          </a:p>
          <a:p>
            <a:pPr>
              <a:spcBef>
                <a:spcPts val="300"/>
              </a:spcBef>
              <a:defRPr sz="1600">
                <a:solidFill>
                  <a:srgbClr val="333333"/>
                </a:solidFill>
              </a:defRPr>
            </a:pPr>
            <a:r>
              <a:t>•  A. Dùng được ngay</a:t>
            </a:r>
          </a:p>
          <a:p>
            <a:pPr>
              <a:spcBef>
                <a:spcPts val="300"/>
              </a:spcBef>
              <a:defRPr sz="1600">
                <a:solidFill>
                  <a:srgbClr val="333333"/>
                </a:solidFill>
              </a:defRPr>
            </a:pPr>
            <a:r>
              <a:t>•  B. Cần sửa nhỏ</a:t>
            </a:r>
          </a:p>
          <a:p>
            <a:pPr>
              <a:spcBef>
                <a:spcPts val="300"/>
              </a:spcBef>
              <a:defRPr sz="1600">
                <a:solidFill>
                  <a:srgbClr val="333333"/>
                </a:solidFill>
              </a:defRPr>
            </a:pPr>
            <a:r>
              <a:t>•  C. Cần sửa nhiều</a:t>
            </a:r>
          </a:p>
          <a:p>
            <a:pPr>
              <a:spcBef>
                <a:spcPts val="300"/>
              </a:spcBef>
              <a:defRPr sz="1600">
                <a:solidFill>
                  <a:srgbClr val="333333"/>
                </a:solidFill>
              </a:defRPr>
            </a:pPr>
            <a:r>
              <a:t>•  D. Lỗi, không chạy được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D5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1A2E"/>
                </a:solidFill>
              </a:defRPr>
            </a:pPr>
            <a:r>
              <a:t>Bài tập 2 -- Thay đổi đơn hàng (5 phút)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475488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Bef>
                <a:spcPts val="800"/>
              </a:spcBef>
              <a:defRPr sz="1600" b="1">
                <a:solidFill>
                  <a:srgbClr val="2D5F9A"/>
                </a:solidFill>
              </a:defRPr>
            </a:pPr>
            <a:r>
              <a:t>Thử đổi thông tin trong file đơn hàng:</a:t>
            </a:r>
          </a:p>
          <a:p>
            <a:pPr>
              <a:spcBef>
                <a:spcPts val="300"/>
              </a:spcBef>
              <a:defRPr sz="1600">
                <a:solidFill>
                  <a:srgbClr val="333333"/>
                </a:solidFill>
              </a:defRPr>
            </a:pPr>
            <a:r>
              <a:t>•  Ví dụ: Thêm dịch vụ mới (SEO: 8 triệu)</a:t>
            </a:r>
          </a:p>
          <a:p>
            <a:pPr>
              <a:spcBef>
                <a:spcPts val="300"/>
              </a:spcBef>
              <a:defRPr sz="1600">
                <a:solidFill>
                  <a:srgbClr val="333333"/>
                </a:solidFill>
              </a:defRPr>
            </a:pPr>
            <a:r>
              <a:t>•  Hoặc: Đổi tên công ty, đổi giá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-&gt; Chạy lại contract-agent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-&gt; Kiểm tra: output có cập nhật đúng không?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D5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1A2E"/>
                </a:solidFill>
              </a:defRPr>
            </a:pPr>
            <a:r>
              <a:t>Bài tập 3 -- Phác thảo CLAUDE.md cá nhân (15 phút)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475488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Bef>
                <a:spcPts val="800"/>
              </a:spcBef>
              <a:defRPr sz="1600" b="1">
                <a:solidFill>
                  <a:srgbClr val="2D5F9A"/>
                </a:solidFill>
              </a:defRPr>
            </a:pPr>
            <a:r>
              <a:t>Dùng template 4 phần -- Điền cho 1 tác vụ lặp lại của bạn:</a:t>
            </a:r>
          </a:p>
          <a:p>
            <a:pPr>
              <a:defRPr sz="1400">
                <a:solidFill>
                  <a:srgbClr val="333333"/>
                </a:solidFill>
                <a:latin typeface="Consolas"/>
              </a:defRPr>
            </a:pPr>
            <a:r>
              <a:t># CLAUDE.md -- [Tên tác vụ của bạn]</a:t>
            </a:r>
          </a:p>
          <a:p>
            <a:pPr>
              <a:defRPr sz="1400">
                <a:solidFill>
                  <a:srgbClr val="333333"/>
                </a:solidFill>
                <a:latin typeface="Consolas"/>
              </a:defRPr>
            </a:pPr>
          </a:p>
          <a:p>
            <a:pPr>
              <a:defRPr sz="1400">
                <a:solidFill>
                  <a:srgbClr val="333333"/>
                </a:solidFill>
                <a:latin typeface="Consolas"/>
              </a:defRPr>
            </a:pPr>
            <a:r>
              <a:t>## Vai trò</a:t>
            </a:r>
          </a:p>
          <a:p>
            <a:pPr>
              <a:defRPr sz="1400">
                <a:solidFill>
                  <a:srgbClr val="333333"/>
                </a:solidFill>
                <a:latin typeface="Consolas"/>
              </a:defRPr>
            </a:pPr>
            <a:r>
              <a:t>Bạn là [___] chuyên về [___].</a:t>
            </a:r>
          </a:p>
          <a:p>
            <a:pPr>
              <a:defRPr sz="1400">
                <a:solidFill>
                  <a:srgbClr val="333333"/>
                </a:solidFill>
                <a:latin typeface="Consolas"/>
              </a:defRPr>
            </a:pPr>
          </a:p>
          <a:p>
            <a:pPr>
              <a:defRPr sz="1400">
                <a:solidFill>
                  <a:srgbClr val="333333"/>
                </a:solidFill>
                <a:latin typeface="Consolas"/>
              </a:defRPr>
            </a:pPr>
            <a:r>
              <a:t>## Quy tắc</a:t>
            </a:r>
          </a:p>
          <a:p>
            <a:pPr>
              <a:defRPr sz="1400">
                <a:solidFill>
                  <a:srgbClr val="333333"/>
                </a:solidFill>
                <a:latin typeface="Consolas"/>
              </a:defRPr>
            </a:pPr>
            <a:r>
              <a:t>- LUÔN: [___]</a:t>
            </a:r>
          </a:p>
          <a:p>
            <a:pPr>
              <a:defRPr sz="1400">
                <a:solidFill>
                  <a:srgbClr val="333333"/>
                </a:solidFill>
                <a:latin typeface="Consolas"/>
              </a:defRPr>
            </a:pPr>
            <a:r>
              <a:t>- KHÔNG BAO GIỜ: [___]</a:t>
            </a:r>
          </a:p>
          <a:p>
            <a:pPr>
              <a:defRPr sz="1400">
                <a:solidFill>
                  <a:srgbClr val="333333"/>
                </a:solidFill>
                <a:latin typeface="Consolas"/>
              </a:defRPr>
            </a:pPr>
          </a:p>
          <a:p>
            <a:pPr>
              <a:defRPr sz="1400">
                <a:solidFill>
                  <a:srgbClr val="333333"/>
                </a:solidFill>
                <a:latin typeface="Consolas"/>
              </a:defRPr>
            </a:pPr>
            <a:r>
              <a:t>## Workflow</a:t>
            </a:r>
          </a:p>
          <a:p>
            <a:pPr>
              <a:defRPr sz="1400">
                <a:solidFill>
                  <a:srgbClr val="333333"/>
                </a:solidFill>
                <a:latin typeface="Consolas"/>
              </a:defRPr>
            </a:pPr>
            <a:r>
              <a:t>1. Đọc [___]</a:t>
            </a:r>
          </a:p>
          <a:p>
            <a:pPr>
              <a:defRPr sz="1400">
                <a:solidFill>
                  <a:srgbClr val="333333"/>
                </a:solidFill>
                <a:latin typeface="Consolas"/>
              </a:defRPr>
            </a:pPr>
            <a:r>
              <a:t>2. [___]</a:t>
            </a:r>
          </a:p>
          <a:p>
            <a:pPr>
              <a:defRPr sz="1400">
                <a:solidFill>
                  <a:srgbClr val="333333"/>
                </a:solidFill>
                <a:latin typeface="Consolas"/>
              </a:defRPr>
            </a:pPr>
            <a:r>
              <a:t>3. Tạo [___]</a:t>
            </a:r>
          </a:p>
          <a:p>
            <a:pPr>
              <a:defRPr sz="1400">
                <a:solidFill>
                  <a:srgbClr val="333333"/>
                </a:solidFill>
                <a:latin typeface="Consolas"/>
              </a:defRPr>
            </a:pPr>
          </a:p>
          <a:p>
            <a:pPr>
              <a:defRPr sz="1400">
                <a:solidFill>
                  <a:srgbClr val="333333"/>
                </a:solidFill>
                <a:latin typeface="Consolas"/>
              </a:defRPr>
            </a:pPr>
            <a:r>
              <a:t>## Công cụ</a:t>
            </a:r>
          </a:p>
          <a:p>
            <a:pPr>
              <a:defRPr sz="1400">
                <a:solidFill>
                  <a:srgbClr val="333333"/>
                </a:solidFill>
                <a:latin typeface="Consolas"/>
              </a:defRPr>
            </a:pPr>
            <a:r>
              <a:t>- Input: [___]</a:t>
            </a:r>
          </a:p>
          <a:p>
            <a:pPr>
              <a:defRPr sz="1400">
                <a:solidFill>
                  <a:srgbClr val="333333"/>
                </a:solidFill>
                <a:latin typeface="Consolas"/>
              </a:defRPr>
            </a:pPr>
            <a:r>
              <a:t>- Output: [___]</a:t>
            </a:r>
          </a:p>
          <a:p>
            <a:pPr>
              <a:defRPr sz="1600" i="1">
                <a:solidFill>
                  <a:srgbClr val="2D5F9A"/>
                </a:solidFill>
              </a:defRPr>
            </a:pPr>
            <a:r>
              <a:t>"Không cần hoàn chỉnh -- bản nháp đầu tiên. Sẽ hoàn thiện ở Buổi 4."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D5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1A2E"/>
                </a:solidFill>
              </a:defRPr>
            </a:pPr>
            <a:r>
              <a:t>Showcase -- Chia sẻ CLAUDE.md bản nháp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475488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Bef>
                <a:spcPts val="800"/>
              </a:spcBef>
              <a:defRPr sz="1600" b="1">
                <a:solidFill>
                  <a:srgbClr val="2D5F9A"/>
                </a:solidFill>
              </a:defRPr>
            </a:pPr>
            <a:r>
              <a:t>2--3 người chia sẻ:</a:t>
            </a:r>
          </a:p>
          <a:p>
            <a:pPr>
              <a:spcBef>
                <a:spcPts val="300"/>
              </a:spcBef>
              <a:defRPr sz="1600">
                <a:solidFill>
                  <a:srgbClr val="333333"/>
                </a:solidFill>
              </a:defRPr>
            </a:pPr>
            <a:r>
              <a:t>•  Đọc CLAUDE.md bản nháp</a:t>
            </a:r>
          </a:p>
          <a:p>
            <a:pPr>
              <a:spcBef>
                <a:spcPts val="300"/>
              </a:spcBef>
              <a:defRPr sz="1600">
                <a:solidFill>
                  <a:srgbClr val="333333"/>
                </a:solidFill>
              </a:defRPr>
            </a:pPr>
            <a:r>
              <a:t>•  Lớp góp ý: "Workflow này đủ rõ chưa? Còn thiếu gì?"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D5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1A2E"/>
                </a:solidFill>
              </a:defRPr>
            </a:pPr>
            <a:r>
              <a:t>3 Takeaway hôm nay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475488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Bef>
                <a:spcPts val="300"/>
              </a:spcBef>
              <a:defRPr sz="1600">
                <a:solidFill>
                  <a:srgbClr val="333333"/>
                </a:solidFill>
              </a:defRPr>
            </a:pPr>
            <a:r>
              <a:t>CLAUDE.md = sổ tay nhân viên -- hướng dẫn AI 1 lần, dùng mãi</a:t>
            </a:r>
          </a:p>
          <a:p>
            <a:pPr>
              <a:spcBef>
                <a:spcPts val="300"/>
              </a:spcBef>
              <a:defRPr sz="1600">
                <a:solidFill>
                  <a:srgbClr val="333333"/>
                </a:solidFill>
              </a:defRPr>
            </a:pPr>
            <a:r>
              <a:t>Contract-agent chạy thật -- bạn vừa tự chạy automation đầu tiên</a:t>
            </a:r>
          </a:p>
          <a:p>
            <a:pPr>
              <a:spcBef>
                <a:spcPts val="300"/>
              </a:spcBef>
              <a:defRPr sz="1600">
                <a:solidFill>
                  <a:srgbClr val="333333"/>
                </a:solidFill>
              </a:defRPr>
            </a:pPr>
            <a:r>
              <a:t>4 phần CLAUDE.md: Vai trò + Quy tắc + Workflow + Công cụ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D5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1A2E"/>
                </a:solidFill>
              </a:defRPr>
            </a:pPr>
            <a:r>
              <a:t>Bài tập về nhà (25 phút)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475488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Bef>
                <a:spcPts val="300"/>
              </a:spcBef>
              <a:defRPr sz="1600">
                <a:solidFill>
                  <a:srgbClr val="333333"/>
                </a:solidFill>
              </a:defRPr>
            </a:pPr>
            <a:r>
              <a:t>Hoàn thiện CLAUDE.md cá nhân (4 phần đầy đủ)</a:t>
            </a:r>
          </a:p>
          <a:p>
            <a:pPr>
              <a:spcBef>
                <a:spcPts val="300"/>
              </a:spcBef>
              <a:defRPr sz="1600">
                <a:solidFill>
                  <a:srgbClr val="333333"/>
                </a:solidFill>
              </a:defRPr>
            </a:pPr>
            <a:r>
              <a:t>Test với 1 tác vụ thực tế trong Claude Code</a:t>
            </a:r>
          </a:p>
          <a:p>
            <a:pPr>
              <a:spcBef>
                <a:spcPts val="300"/>
              </a:spcBef>
              <a:defRPr sz="1600">
                <a:solidFill>
                  <a:srgbClr val="333333"/>
                </a:solidFill>
              </a:defRPr>
            </a:pPr>
            <a:r>
              <a:t>Ghi lại: kết quả có/không có CLAUDE.md khác thế nào</a:t>
            </a:r>
          </a:p>
          <a:p>
            <a:pPr>
              <a:spcBef>
                <a:spcPts val="300"/>
              </a:spcBef>
              <a:defRPr sz="1600">
                <a:solidFill>
                  <a:srgbClr val="333333"/>
                </a:solidFill>
              </a:defRPr>
            </a:pPr>
            <a:r>
              <a:t>Phác thảo SKILL.md: liệt kê input, output, các bước cho 1 quy trình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-&gt; Mang CLAUDE.md + bản nháp SKILL.md đến Buổi 4</a:t>
            </a:r>
          </a:p>
          <a:p>
            <a:pPr>
              <a:spcBef>
                <a:spcPts val="800"/>
              </a:spcBef>
              <a:defRPr sz="1600" b="1">
                <a:solidFill>
                  <a:srgbClr val="2D5F9A"/>
                </a:solidFill>
              </a:defRPr>
            </a:pPr>
            <a:r>
              <a:t>Preview Buổi 4:</a:t>
            </a:r>
          </a:p>
          <a:p>
            <a:pPr>
              <a:defRPr sz="1600" i="1">
                <a:solidFill>
                  <a:srgbClr val="2D5F9A"/>
                </a:solidFill>
              </a:defRPr>
            </a:pPr>
            <a:r>
              <a:t>""Buổi tới: hiểu TẠI SAO contract-agent hoạt động tốt -- context engineering, Smart Zone, và kết nối thêm công cụ MCP để AI đọc file trực tiếp từ máy bạn.""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